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Public Sans" pitchFamily="34" charset="0"/>
      <p:regular r:id="rId33"/>
      <p:bold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font" Target="fonts/font1.fntdata"/><Relationship Id="rId3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01] In January 2022, twenty-nine groups of doctors and hospitals did something odd. They quit their Medicare contracts early and signed new ones, which reset the targets Medicare uses to decide whether they earn a share of savings. Two thirds of them ended up with a lower target. A harder one. So why do it? I ran a study to find out, and I wrote down the rules before I looked at the data. Here's what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02] I'm Samuel Harrold, and this is a pre-registered study of public Medicare data. You don't need any background in healthcare or statistics to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03] First, a familiar idea. Imagine your boss sets next year's sales target from what you sold this year. You crush it, and your reward is a harder target. Do too well today, and tomorrow gets tougher. Economists call this a ratchet, because it only clicks one way. Medicare has its own version of this, and it's the key to the whole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04] Here's the program. It's called the Medicare Shared Savings Program, and the groups in it are called ACOs, short for accountable care organizations. That's the one acronym you need. An ACO is just a group of doctors and hospitals. Medicare adds up the total cost of care for each group's patients. If it comes in under a target, the group keeps part of the savings. It's big: five hundred eleven groups, covering about twelve point six million people with Medicare.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05] Let's use one made-up example with round numbers. Medicare sets this group's target at eleven thousand dollars per patient per year. The group's patients actually cost ten thousand five hundred. That's five hundred dollars saved per patient, or seven and a half million dollars across fifteen thousand patients. How much does the group keep? On the common track, up to half: about three point seven five million. On the top track, called ENHANCED, seventy-five percent: about five point six million. Same savings, almost two million dollars more. Remember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06] Now the catch. The target doesn't stay put. When a group signs a new contract, Medicare rebuilds the target, starting from the group's own recent spending. Our group spent ten thousand five hundred, so its new target starts there: five hundred dollars lower. Save money, and your next target gets harder. That's the ratchet. If that were the whole story, no successful group would ever want a reset. But there's a second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07] Next, Medicare nudges the target toward what similar patients cost in the group's region. Say comparable patients nearby cost twelve thousand dollars. That's fifteen hundred more than our group spent. The first time, the rules move the target thirty-five percent of the way toward the region. Thirty-five percent of fifteen hundred is five hundred twenty-five dollars. So a group in an expensive area gets a boost. How much room a group has for that boost is what I'll call the regional pull. It's the main thing this study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08a] Let's add the two parts. Start at ten thousand five hundred, from the group's own spending. [Clip 08b] Add five hundred twenty-five for the region. [Clip 08c] The new target is eleven thousand and twenty-five dollars. The old one was eleven thousand. Almost exactly where it started. The penalty for saving and the bonus for an expensive area cancel out. I picked these numbers on purpose. Keep this picture in mind, because the real data looked a lot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09] So here's the puzzle. Contracts normally last five years, but a group could quit early and immediately sign a new one. Renewing early did two things at once. First, it reset the target sooner. Second, for groups on the main track, it was the only way to move up to the top track, ENHANCED, before their contract ran out. That's the one that keeps seventy-five percent of savings, though it also means owing back up to seventy-five percent of any losses. Two changes,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10] I looked at three hundred thirty-four groups whose contracts started in mid-2019 or January 2020. Twenty-nine renewed early, on January first, 2022. I'll call them early renewers, in orange. Two hundred seventy-seven stayed put: the stayers, in blue. And twenty-eight left the program. So what made those twenty-nine different? One caution: twenty-nine is a small number, and I'll be upfront about what that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11] There are two suspects. Suspect A: a better target. Maybe a reset would have raised their target, giving them more room to earn savings. Suspect B: a bigger share. Maybe they wanted the seventy-five percent track, and renewing early was the only door. The trouble is, both came with the same decision, so no test can fully pull them apart. But one of these suspects doesn't hold up the way you'd expect. Before we get there, here's how I made sure I couldn't fool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12] Before I looked at a single spending number, I wrote down every question I'd ask, every test I'd run, and the exact words I'd use for each possible result. Then I posted it publicly. It's called pre-registration. Think of calling your shot in pool: eight ball, corner pocket. Why bother? Because these files are public, and if you slice data enough ways, something will look exciting just by chance. Researchers fall into that trap without meaning to. Calling the shot means you can tell a planned test from a lucky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13] And you can check it. The plan was registered on OSF, the Open Science Framework, which stamps the time itself, on October twenty-sixth, 2026. The analysis code refused to open any spending file until that registration existed. And I tested everything first on fake data with known answers planted in it. Reviews of the plan before registration also caught a real flaw: my first main test was quietly just a restatement of past savings. Catching that before the plan was locked, instead of after,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14] One more check before the results. Medicare doesn't publish what a group's target would have been after a reset, so I rebuilt it from public files. I tested the rebuild on one hundred one groups where Medicare did publish the answer. It passed the bar I'd set in advance: it ranked groups almost exactly the way Medicare did, and the typical miss was one point six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15a] Now, how to read the results. Each one is a best guess, the dot, and a range of plausible values, the bar. Ask one question: does the bar cross zero? Here, the best guess is plus three point four, and the whole bar sits above zero. That's a clear difference. [Clip 15b] Here, the best guess is minus half a point, and the bar crosses zero. That doesn't prove there's no difference. It means we can't tell it apart from none. You'll see both of these again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16] Finding one, the main question. Were early renewers in places where care costs more than their target? Yes. The gap was bigger than for stayers, by about three point four percent of the target. That's roughly three hundred eighty-five dollars per patient per year. It passed the test I set in advance, and by my own rule it counts as evidence for suspect A, the better target. Case closed? Not quite. That's only one of the two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17] Finding two. Early renewers were already beating their targets, by more than stayers. In 2020 they saved about six point four percent of their target, against four point six for stayers, and the gap held in 2021 too. That comes straight from Medicare's own reports. And remember the catch: a reset restarts from your own spending. For strong savers, that part cuts the target. So one part helps them more, and the other hurts them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18a] Here's what happens when you put them together. The blue bar is the regional boost. Early renewers stood to gain a little over one and a half points more than stayers. [Clip 18b] The orange bar is the own-spending catch. They stood to lose about two points more, because they'd been saving more. [Clip 18c] Add them up, and you get the grey bar: about minus half a point, with a range that crosses zero. The boost and the penalty cancel. It's our eleven thousand and twenty-five example, in real data. [Clip 18d] After the study, I checked what actually happened, using Medicare's published 2022 targets. Early renewers' new targets came in about one point three percent lower on average, and two thirds of them went down. That check wasn't in the original plan, so I'm labeling it as an add-on. But it agrees. So on average, a reset didn't hand these groups a better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19] Finding four is about suspect B, the bigger share. Of the twenty-seven early renewers on the main track, twenty-six moved up to the seventy-five percent track. And sixteen of them were already at the main track's top level, one short step away. In a model of who renewed, being at a higher level stood out, along with the regional pull. One caution: that model rests on just twenty-four groups, so trust the direction, not the exact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20a] Finding five: did renewing change spending? Compared with groups that hadn't renewed yet, early renewers' spending growth was about the same: minus zero point four percent, with a range from minus four to plus two and a half. [Clip 20b] So we can rule out a drop bigger than about four percent, or a rise bigger than about two and a half. But I can't call it "no effect." I had only one earlier period to compare trends, during COVID, and a trend that started before renewal could hide a small effect. My plan said not to call it an effect in that case, so I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21] So what can this study say? It shows which groups chose to reset, what a reset stood to do to their targets, and that spending didn't shift by more than a few percent. What it can't say: that renewing caused anything, since groups chose for themselves; which suspect was the real reason; or what any of this cost Medicare.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22] So why did they hit reset? On average, not for a better target. Their targets mostly went down. But nearly all of them got the bigger share, and many were one step away. For a low-cost group that's already saving, keeping seventy-five percent instead of fifty can be worth more than a small drop in the target. That's my reading, not a tested result. But it fits how Medicare wrote the rules: if you wanted the bigger share mid-contract, a reset came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23] A few limits. The biggest: these are the 2022 rules. For contracts starting in 2024 or later, Medicare gives groups credit for past savings, so the trade-off may look different today. The numbers are small. My rebuilt targets are good for averages, rough for single groups. Thirty-nine smaller groups couldn't be measured, because Medicare hides tiny counts for privacy. And there was only one earlier period, during COVID.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24] A quick disclosure. An AI tool, Claude Code from Anthropic, proposed this topic and drafted the analysis plan, the code, and most of the written post, and separate AI instances reviewed them. I chose among its options, registered the plan, ran the analysis, and I'm responsible for the results. The slides and script for this video were drafted with Claude's help too. Because the plan was public before any result existed, you can check it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25] Three things to remember. One: the groups that reset early were low-cost compared with their neighbors, and already saving more. Two: a reset didn't raise their targets on average. The bigger seventy-five percent share is the likelier draw. Three, and this goes far beyond Medicare: write down your rules before you look, and people can trust your answer, even when it's messy.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26] If you want to dig in, the full write-up, the registered plan and the code are all linked in the description. And if you've ever had a target ratchet up on you, tell me about it in the comments.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B2A3A"/>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B2A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B2A3A"/>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B2A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stharrold.github.io/20261027-preregistered-mssp-early-renewal.html" TargetMode="External"/><Relationship Id="rId2" Type="http://schemas.openxmlformats.org/officeDocument/2006/relationships/hyperlink" Target="https://osf.io/c53w9/" TargetMode="External"/><Relationship Id="rId3" Type="http://schemas.openxmlformats.org/officeDocument/2006/relationships/hyperlink" Target="https://github.com/stharrold/mssp-paper-2026" TargetMode="External"/><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16231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A"/>
                </a:solidFill>
                <a:latin typeface="Public Sans" pitchFamily="34" charset="0"/>
                <a:ea typeface="Public Sans" pitchFamily="34" charset="-122"/>
                <a:cs typeface="Public Sans" pitchFamily="34" charset="-120"/>
              </a:rPr>
              <a:t>MEDICARE, JANUARY 2022</a:t>
            </a:r>
            <a:endParaRPr lang="en-US" sz="1200" dirty="0"/>
          </a:p>
        </p:txBody>
      </p:sp>
      <p:sp>
        <p:nvSpPr>
          <p:cNvPr id="3" name="Text 1"/>
          <p:cNvSpPr/>
          <p:nvPr>
            <p:ph type="title"/>
          </p:nvPr>
        </p:nvSpPr>
        <p:spPr>
          <a:xfrm>
            <a:off x="812800" y="2141240"/>
            <a:ext cx="10883392" cy="1122561"/>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F7F4EE"/>
                </a:solidFill>
                <a:latin typeface="Domine" pitchFamily="18" charset="0"/>
                <a:ea typeface="Domine" pitchFamily="18" charset="-122"/>
                <a:cs typeface="Domine" pitchFamily="18" charset="-120"/>
              </a:rPr>
              <a:t>29 doctor groups quit their contracts early and had their targets reset.</a:t>
            </a:r>
            <a:endParaRPr lang="en-US" sz="3600" dirty="0"/>
          </a:p>
        </p:txBody>
      </p:sp>
      <p:sp>
        <p:nvSpPr>
          <p:cNvPr id="4" name="Text 2"/>
          <p:cNvSpPr/>
          <p:nvPr/>
        </p:nvSpPr>
        <p:spPr>
          <a:xfrm>
            <a:off x="812800" y="3543201"/>
            <a:ext cx="10883392"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F0A06A"/>
                </a:solidFill>
                <a:latin typeface="Domine" pitchFamily="18" charset="0"/>
                <a:ea typeface="Domine" pitchFamily="18" charset="-122"/>
                <a:cs typeface="Domine" pitchFamily="18" charset="-120"/>
              </a:rPr>
              <a:t>Two-thirds ended up with a lower one.</a:t>
            </a:r>
            <a:endParaRPr lang="en-US" sz="3600" dirty="0"/>
          </a:p>
        </p:txBody>
      </p:sp>
      <p:sp>
        <p:nvSpPr>
          <p:cNvPr id="5" name="Text 3"/>
          <p:cNvSpPr/>
          <p:nvPr/>
        </p:nvSpPr>
        <p:spPr>
          <a:xfrm>
            <a:off x="812800" y="4396581"/>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4EE"/>
                </a:solidFill>
                <a:latin typeface="Domine" pitchFamily="18" charset="0"/>
                <a:ea typeface="Domine" pitchFamily="18" charset="-122"/>
                <a:cs typeface="Domine" pitchFamily="18" charset="-120"/>
              </a:rPr>
              <a:t>Why?</a:t>
            </a:r>
            <a:endParaRPr lang="en-US" sz="60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Public Sans" pitchFamily="34" charset="0"/>
                <a:ea typeface="Public Sans" pitchFamily="34" charset="-122"/>
                <a:cs typeface="Public Sans" pitchFamily="34" charset="-120"/>
              </a:rPr>
              <a:t>Two-thirds: from a check made after the pre-registered analysis, against Medicare's published 2022 targets (slide 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A"/>
                </a:solidFill>
                <a:latin typeface="Public Sans" pitchFamily="34" charset="0"/>
                <a:ea typeface="Public Sans" pitchFamily="34" charset="-122"/>
                <a:cs typeface="Public Sans" pitchFamily="34" charset="-120"/>
              </a:rPr>
              <a:t>A PRE-REGISTERED STUDY OF PUBLIC MEDICARE DATA</a:t>
            </a:r>
            <a:endParaRPr lang="en-US" sz="1200" dirty="0"/>
          </a:p>
        </p:txBody>
      </p:sp>
      <p:sp>
        <p:nvSpPr>
          <p:cNvPr id="3" name="Text 1"/>
          <p:cNvSpPr/>
          <p:nvPr>
            <p:ph type="title"/>
          </p:nvPr>
        </p:nvSpPr>
        <p:spPr>
          <a:xfrm>
            <a:off x="812800" y="2414389"/>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7F4EE"/>
                </a:solidFill>
                <a:latin typeface="Domine" pitchFamily="18" charset="0"/>
                <a:ea typeface="Domine" pitchFamily="18" charset="-122"/>
                <a:cs typeface="Domine" pitchFamily="18" charset="-120"/>
              </a:rPr>
              <a:t>Why did some Medicare doctor groups hit "reset" early?</a:t>
            </a:r>
            <a:endParaRPr lang="en-US" sz="4800" dirty="0"/>
          </a:p>
        </p:txBody>
      </p:sp>
      <p:sp>
        <p:nvSpPr>
          <p:cNvPr id="4" name="Text 2"/>
          <p:cNvSpPr/>
          <p:nvPr/>
        </p:nvSpPr>
        <p:spPr>
          <a:xfrm>
            <a:off x="812800" y="400943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DC"/>
                </a:solidFill>
                <a:latin typeface="Public Sans" pitchFamily="34" charset="0"/>
                <a:ea typeface="Public Sans" pitchFamily="34" charset="-122"/>
                <a:cs typeface="Public Sans" pitchFamily="34" charset="-120"/>
              </a:rPr>
              <a:t>And what happens when you write down the rules before you look at the data</a:t>
            </a:r>
            <a:endParaRPr lang="en-US" sz="22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DC"/>
                </a:solidFill>
                <a:latin typeface="Public Sans" pitchFamily="34" charset="0"/>
                <a:ea typeface="Public Sans" pitchFamily="34" charset="-122"/>
                <a:cs typeface="Public Sans" pitchFamily="34" charset="-120"/>
              </a:rPr>
              <a:t>Samuel Harrold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21146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START WITH A FAMILIAR IDEA</a:t>
            </a:r>
            <a:endParaRPr lang="en-US" sz="1200" dirty="0"/>
          </a:p>
        </p:txBody>
      </p:sp>
      <p:sp>
        <p:nvSpPr>
          <p:cNvPr id="3" name="Text 1"/>
          <p:cNvSpPr/>
          <p:nvPr>
            <p:ph type="title"/>
          </p:nvPr>
        </p:nvSpPr>
        <p:spPr>
          <a:xfrm>
            <a:off x="812800" y="263277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2A3A"/>
                </a:solidFill>
                <a:latin typeface="Domine" pitchFamily="18" charset="0"/>
                <a:ea typeface="Domine" pitchFamily="18" charset="-122"/>
                <a:cs typeface="Domine" pitchFamily="18" charset="-120"/>
              </a:rPr>
              <a:t>Imagine next year's sales target is set from what you sold this year.</a:t>
            </a:r>
            <a:endParaRPr lang="en-US" sz="3600" dirty="0"/>
          </a:p>
        </p:txBody>
      </p:sp>
      <p:sp>
        <p:nvSpPr>
          <p:cNvPr id="4" name="Text 2"/>
          <p:cNvSpPr/>
          <p:nvPr/>
        </p:nvSpPr>
        <p:spPr>
          <a:xfrm>
            <a:off x="812800" y="3989090"/>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E4C5A"/>
                </a:solidFill>
                <a:latin typeface="Public Sans" pitchFamily="34" charset="0"/>
                <a:ea typeface="Public Sans" pitchFamily="34" charset="-122"/>
                <a:cs typeface="Public Sans" pitchFamily="34" charset="-120"/>
              </a:rPr>
              <a:t>Have a great year, and next year's target gets harder. Economists call this a </a:t>
            </a:r>
            <a:r>
              <a:rPr lang="en-US" sz="2200" b="1" dirty="0">
                <a:solidFill>
                  <a:srgbClr val="3E4C5A"/>
                </a:solidFill>
                <a:latin typeface="Public Sans" pitchFamily="34" charset="0"/>
                <a:ea typeface="Public Sans" pitchFamily="34" charset="-122"/>
                <a:cs typeface="Public Sans" pitchFamily="34" charset="-120"/>
              </a:rPr>
              <a:t>ratchet</a:t>
            </a:r>
            <a:r>
              <a:rPr lang="en-US" sz="2200" dirty="0">
                <a:solidFill>
                  <a:srgbClr val="3E4C5A"/>
                </a:solidFill>
                <a:latin typeface="Public Sans" pitchFamily="34" charset="0"/>
                <a:ea typeface="Public Sans" pitchFamily="34" charset="-122"/>
                <a:cs typeface="Public Sans" pitchFamily="34" charset="-120"/>
              </a:rPr>
              <a:t>: it only clicks one way.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THE PROGRAM</a:t>
            </a:r>
            <a:endParaRPr lang="en-US" sz="1200" dirty="0"/>
          </a:p>
        </p:txBody>
      </p:sp>
      <p:sp>
        <p:nvSpPr>
          <p:cNvPr id="3" name="Text 1"/>
          <p:cNvSpPr/>
          <p:nvPr>
            <p:ph type="title"/>
          </p:nvPr>
        </p:nvSpPr>
        <p:spPr>
          <a:xfrm>
            <a:off x="812800" y="1127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Medicare pays some doctor groups to save money</a:t>
            </a:r>
            <a:endParaRPr lang="en-US" sz="3600" dirty="0"/>
          </a:p>
        </p:txBody>
      </p:sp>
      <p:sp>
        <p:nvSpPr>
          <p:cNvPr id="4" name="Text 2"/>
          <p:cNvSpPr/>
          <p:nvPr/>
        </p:nvSpPr>
        <p:spPr>
          <a:xfrm>
            <a:off x="812800" y="248900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An </a:t>
            </a:r>
            <a:r>
              <a:rPr lang="en-US" sz="1600" b="1" dirty="0">
                <a:solidFill>
                  <a:srgbClr val="3E4C5A"/>
                </a:solidFill>
                <a:latin typeface="Public Sans" pitchFamily="34" charset="0"/>
                <a:ea typeface="Public Sans" pitchFamily="34" charset="-122"/>
                <a:cs typeface="Public Sans" pitchFamily="34" charset="-120"/>
              </a:rPr>
              <a:t>accountable care organization (ACO)</a:t>
            </a:r>
            <a:r>
              <a:rPr lang="en-US" sz="1600" dirty="0">
                <a:solidFill>
                  <a:srgbClr val="3E4C5A"/>
                </a:solidFill>
                <a:latin typeface="Public Sans" pitchFamily="34" charset="0"/>
                <a:ea typeface="Public Sans" pitchFamily="34" charset="-122"/>
                <a:cs typeface="Public Sans" pitchFamily="34" charset="-120"/>
              </a:rPr>
              <a:t> is a group of doctors and hospitals that agrees to be measured on the total cost of care for its Medicare patients. If costs come in under target, the group keeps part of the savings.</a:t>
            </a:r>
            <a:endParaRPr lang="en-US" sz="1600" dirty="0"/>
          </a:p>
        </p:txBody>
      </p:sp>
      <p:sp>
        <p:nvSpPr>
          <p:cNvPr id="5" name="Shape 3"/>
          <p:cNvSpPr/>
          <p:nvPr/>
        </p:nvSpPr>
        <p:spPr>
          <a:xfrm>
            <a:off x="815975" y="3416697"/>
            <a:ext cx="5175250" cy="1738610"/>
          </a:xfrm>
          <a:prstGeom prst="roundRect">
            <a:avLst>
              <a:gd name="adj" fmla="val 5661"/>
            </a:avLst>
          </a:prstGeom>
          <a:solidFill>
            <a:srgbClr val="FFFDF9"/>
          </a:solidFill>
          <a:ln w="6350">
            <a:solidFill>
              <a:srgbClr val="E2DDD3"/>
            </a:solidFill>
            <a:prstDash val="solid"/>
          </a:ln>
        </p:spPr>
      </p:sp>
      <p:sp>
        <p:nvSpPr>
          <p:cNvPr id="6" name="Text 4"/>
          <p:cNvSpPr/>
          <p:nvPr/>
        </p:nvSpPr>
        <p:spPr>
          <a:xfrm>
            <a:off x="1123950" y="3724672"/>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2A3A"/>
                </a:solidFill>
                <a:latin typeface="Domine" pitchFamily="18" charset="0"/>
                <a:ea typeface="Domine" pitchFamily="18" charset="-122"/>
                <a:cs typeface="Domine" pitchFamily="18" charset="-120"/>
              </a:rPr>
              <a:t>511</a:t>
            </a:r>
            <a:endParaRPr lang="en-US" sz="6000" dirty="0"/>
          </a:p>
        </p:txBody>
      </p:sp>
      <p:sp>
        <p:nvSpPr>
          <p:cNvPr id="7" name="Text 5"/>
          <p:cNvSpPr/>
          <p:nvPr/>
        </p:nvSpPr>
        <p:spPr>
          <a:xfrm>
            <a:off x="1123950" y="4562872"/>
            <a:ext cx="46960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doctor groups (ACOs) in the program</a:t>
            </a:r>
            <a:endParaRPr lang="en-US" sz="1600" dirty="0"/>
          </a:p>
        </p:txBody>
      </p:sp>
      <p:sp>
        <p:nvSpPr>
          <p:cNvPr id="8" name="Shape 6"/>
          <p:cNvSpPr/>
          <p:nvPr/>
        </p:nvSpPr>
        <p:spPr>
          <a:xfrm>
            <a:off x="6200775" y="3416697"/>
            <a:ext cx="5175250" cy="1738610"/>
          </a:xfrm>
          <a:prstGeom prst="roundRect">
            <a:avLst>
              <a:gd name="adj" fmla="val 5661"/>
            </a:avLst>
          </a:prstGeom>
          <a:solidFill>
            <a:srgbClr val="FFFDF9"/>
          </a:solidFill>
          <a:ln w="6350">
            <a:solidFill>
              <a:srgbClr val="E2DDD3"/>
            </a:solidFill>
            <a:prstDash val="solid"/>
          </a:ln>
        </p:spPr>
      </p:sp>
      <p:sp>
        <p:nvSpPr>
          <p:cNvPr id="9" name="Text 7"/>
          <p:cNvSpPr/>
          <p:nvPr/>
        </p:nvSpPr>
        <p:spPr>
          <a:xfrm>
            <a:off x="6508750" y="3724672"/>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2A3A"/>
                </a:solidFill>
                <a:latin typeface="Domine" pitchFamily="18" charset="0"/>
                <a:ea typeface="Domine" pitchFamily="18" charset="-122"/>
                <a:cs typeface="Domine" pitchFamily="18" charset="-120"/>
              </a:rPr>
              <a:t>12.6M</a:t>
            </a:r>
            <a:endParaRPr lang="en-US" sz="6000" dirty="0"/>
          </a:p>
        </p:txBody>
      </p:sp>
      <p:sp>
        <p:nvSpPr>
          <p:cNvPr id="10" name="Text 8"/>
          <p:cNvSpPr/>
          <p:nvPr/>
        </p:nvSpPr>
        <p:spPr>
          <a:xfrm>
            <a:off x="6508750" y="4562872"/>
            <a:ext cx="46960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people with Medicare assigned to them</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Source: CMS Shared Savings Program fast facts, as of January 1, 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A MADE-UP EXAMPLE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deal: beat the target, keep a share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861"/>
          <a:ext cx="6591300" cy="2196207"/>
        </p:xfrm>
        <a:graphic>
          <a:graphicData uri="http://schemas.openxmlformats.org/drawingml/2006/table">
            <a:tbl>
              <a:tblPr/>
              <a:tblGrid>
                <a:gridCol w="4086606"/>
                <a:gridCol w="2504694"/>
              </a:tblGrid>
              <a:tr h="439241">
                <a:tc>
                  <a:txBody>
                    <a:bodyPr/>
                    <a:lstStyle/>
                    <a:p>
                      <a:pPr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Per patient, per year</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2DC"/>
                    </a:solidFill>
                  </a:tcPr>
                </a:tc>
                <a:tc>
                  <a:txBody>
                    <a:bodyPr/>
                    <a:lstStyle/>
                    <a:p>
                      <a:pPr algn="r"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Amount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2DC"/>
                    </a:solidFill>
                  </a:tcPr>
                </a:tc>
              </a:tr>
              <a:tr h="439241">
                <a:tc>
                  <a:txBody>
                    <a:bodyPr/>
                    <a:lstStyle/>
                    <a:p>
                      <a:pP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Target (the "benchmark")</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algn="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$11,000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Actual cost of care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algn="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$10,500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Saved per patient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algn="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$500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x 15,000 patients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algn="r"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$7.5 million</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bl>
          </a:graphicData>
        </a:graphic>
      </p:graphicFrame>
      <p:sp>
        <p:nvSpPr>
          <p:cNvPr id="5" name="Shape 2"/>
          <p:cNvSpPr/>
          <p:nvPr/>
        </p:nvSpPr>
        <p:spPr>
          <a:xfrm>
            <a:off x="7826375" y="1989336"/>
            <a:ext cx="3549650" cy="1352451"/>
          </a:xfrm>
          <a:prstGeom prst="roundRect">
            <a:avLst>
              <a:gd name="adj" fmla="val 7278"/>
            </a:avLst>
          </a:prstGeom>
          <a:solidFill>
            <a:srgbClr val="FFFDF9"/>
          </a:solidFill>
          <a:ln w="6350">
            <a:solidFill>
              <a:srgbClr val="E2DDD3"/>
            </a:solidFill>
            <a:prstDash val="solid"/>
          </a:ln>
        </p:spPr>
      </p:sp>
      <p:sp>
        <p:nvSpPr>
          <p:cNvPr id="6" name="Text 3"/>
          <p:cNvSpPr/>
          <p:nvPr/>
        </p:nvSpPr>
        <p:spPr>
          <a:xfrm>
            <a:off x="8083550" y="2246511"/>
            <a:ext cx="312635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At a 50% share</a:t>
            </a:r>
            <a:endParaRPr lang="en-US" sz="1600" dirty="0"/>
          </a:p>
        </p:txBody>
      </p:sp>
      <p:sp>
        <p:nvSpPr>
          <p:cNvPr id="7" name="Text 4"/>
          <p:cNvSpPr/>
          <p:nvPr/>
        </p:nvSpPr>
        <p:spPr>
          <a:xfrm>
            <a:off x="8083550" y="2581771"/>
            <a:ext cx="3126359"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B6595"/>
                </a:solidFill>
                <a:latin typeface="Domine" pitchFamily="18" charset="0"/>
                <a:ea typeface="Domine" pitchFamily="18" charset="-122"/>
                <a:cs typeface="Domine" pitchFamily="18" charset="-120"/>
              </a:rPr>
              <a:t>$3.75M</a:t>
            </a:r>
            <a:endParaRPr lang="en-US" sz="3600" dirty="0"/>
          </a:p>
        </p:txBody>
      </p:sp>
      <p:sp>
        <p:nvSpPr>
          <p:cNvPr id="8" name="Shape 5"/>
          <p:cNvSpPr/>
          <p:nvPr/>
        </p:nvSpPr>
        <p:spPr>
          <a:xfrm>
            <a:off x="7826375" y="3500537"/>
            <a:ext cx="3549650" cy="1352451"/>
          </a:xfrm>
          <a:prstGeom prst="roundRect">
            <a:avLst>
              <a:gd name="adj" fmla="val 7278"/>
            </a:avLst>
          </a:prstGeom>
          <a:solidFill>
            <a:srgbClr val="FFFDF9"/>
          </a:solidFill>
          <a:ln w="6350">
            <a:solidFill>
              <a:srgbClr val="E2DDD3"/>
            </a:solidFill>
            <a:prstDash val="solid"/>
          </a:ln>
        </p:spPr>
      </p:sp>
      <p:sp>
        <p:nvSpPr>
          <p:cNvPr id="9" name="Text 6"/>
          <p:cNvSpPr/>
          <p:nvPr/>
        </p:nvSpPr>
        <p:spPr>
          <a:xfrm>
            <a:off x="8083550" y="3757712"/>
            <a:ext cx="312635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At a 75% share</a:t>
            </a:r>
            <a:endParaRPr lang="en-US" sz="1600" dirty="0"/>
          </a:p>
        </p:txBody>
      </p:sp>
      <p:sp>
        <p:nvSpPr>
          <p:cNvPr id="10" name="Text 7"/>
          <p:cNvSpPr/>
          <p:nvPr/>
        </p:nvSpPr>
        <p:spPr>
          <a:xfrm>
            <a:off x="8083550" y="4092972"/>
            <a:ext cx="3126359"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01A"/>
                </a:solidFill>
                <a:latin typeface="Domine" pitchFamily="18" charset="0"/>
                <a:ea typeface="Domine" pitchFamily="18" charset="-122"/>
                <a:cs typeface="Domine" pitchFamily="18" charset="-120"/>
              </a:rPr>
              <a:t>$5.6M</a:t>
            </a:r>
            <a:endParaRPr lang="en-US" sz="36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Round numbers for illustration; real targets also adjust for how sick patients are, inflation and caps.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PART 1 OF A RESET: YOUR OWN SPENDING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catch: the target resets</a:t>
            </a:r>
            <a:endParaRPr lang="en-US" sz="3600" dirty="0"/>
          </a:p>
        </p:txBody>
      </p:sp>
      <p:sp>
        <p:nvSpPr>
          <p:cNvPr id="4" name="Shape 2"/>
          <p:cNvSpPr/>
          <p:nvPr/>
        </p:nvSpPr>
        <p:spPr>
          <a:xfrm>
            <a:off x="815975" y="2144216"/>
            <a:ext cx="3033117" cy="1352451"/>
          </a:xfrm>
          <a:prstGeom prst="roundRect">
            <a:avLst>
              <a:gd name="adj" fmla="val 7278"/>
            </a:avLst>
          </a:prstGeom>
          <a:solidFill>
            <a:srgbClr val="FFFDF9"/>
          </a:solidFill>
          <a:ln w="6350">
            <a:solidFill>
              <a:srgbClr val="E2DDD3"/>
            </a:solidFill>
            <a:prstDash val="solid"/>
          </a:ln>
        </p:spPr>
      </p:sp>
      <p:sp>
        <p:nvSpPr>
          <p:cNvPr id="5" name="Text 3"/>
          <p:cNvSpPr/>
          <p:nvPr/>
        </p:nvSpPr>
        <p:spPr>
          <a:xfrm>
            <a:off x="1073150" y="2401391"/>
            <a:ext cx="259433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2A3A"/>
                </a:solidFill>
                <a:latin typeface="Domine" pitchFamily="18" charset="0"/>
                <a:ea typeface="Domine" pitchFamily="18" charset="-122"/>
                <a:cs typeface="Domine" pitchFamily="18" charset="-120"/>
              </a:rPr>
              <a:t>$11,000</a:t>
            </a:r>
            <a:endParaRPr lang="en-US" sz="3600" dirty="0"/>
          </a:p>
        </p:txBody>
      </p:sp>
      <p:sp>
        <p:nvSpPr>
          <p:cNvPr id="6" name="Text 4"/>
          <p:cNvSpPr/>
          <p:nvPr/>
        </p:nvSpPr>
        <p:spPr>
          <a:xfrm>
            <a:off x="1073150" y="2955032"/>
            <a:ext cx="259433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old target</a:t>
            </a:r>
            <a:endParaRPr lang="en-US" sz="1600" dirty="0"/>
          </a:p>
        </p:txBody>
      </p:sp>
      <p:pic>
        <p:nvPicPr>
          <p:cNvPr id="7" name="Image 0" descr="arrow-right">    </p:cNvPr>
          <p:cNvPicPr>
            <a:picLocks noChangeAspect="1"/>
          </p:cNvPicPr>
          <p:nvPr/>
        </p:nvPicPr>
        <p:blipFill>
          <a:blip r:embed="rId1"/>
          <a:srcRect l="0" r="0" t="0" b="0"/>
          <a:stretch/>
        </p:blipFill>
        <p:spPr>
          <a:xfrm>
            <a:off x="4004667" y="2718891"/>
            <a:ext cx="406400" cy="203200"/>
          </a:xfrm>
          <a:prstGeom prst="rect">
            <a:avLst/>
          </a:prstGeom>
        </p:spPr>
      </p:pic>
      <p:sp>
        <p:nvSpPr>
          <p:cNvPr id="8" name="Shape 5"/>
          <p:cNvSpPr/>
          <p:nvPr/>
        </p:nvSpPr>
        <p:spPr>
          <a:xfrm>
            <a:off x="4566642" y="2002036"/>
            <a:ext cx="3033216" cy="1636911"/>
          </a:xfrm>
          <a:prstGeom prst="roundRect">
            <a:avLst>
              <a:gd name="adj" fmla="val 6013"/>
            </a:avLst>
          </a:prstGeom>
          <a:solidFill>
            <a:srgbClr val="FFFDF9"/>
          </a:solidFill>
          <a:ln w="6350">
            <a:solidFill>
              <a:srgbClr val="E2DDD3"/>
            </a:solidFill>
            <a:prstDash val="solid"/>
          </a:ln>
        </p:spPr>
      </p:sp>
      <p:sp>
        <p:nvSpPr>
          <p:cNvPr id="9" name="Text 6"/>
          <p:cNvSpPr/>
          <p:nvPr/>
        </p:nvSpPr>
        <p:spPr>
          <a:xfrm>
            <a:off x="4823817" y="2259211"/>
            <a:ext cx="259443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2A3A"/>
                </a:solidFill>
                <a:latin typeface="Domine" pitchFamily="18" charset="0"/>
                <a:ea typeface="Domine" pitchFamily="18" charset="-122"/>
                <a:cs typeface="Domine" pitchFamily="18" charset="-120"/>
              </a:rPr>
              <a:t>$10,500</a:t>
            </a:r>
            <a:endParaRPr lang="en-US" sz="3600" dirty="0"/>
          </a:p>
        </p:txBody>
      </p:sp>
      <p:sp>
        <p:nvSpPr>
          <p:cNvPr id="10" name="Text 7"/>
          <p:cNvSpPr/>
          <p:nvPr/>
        </p:nvSpPr>
        <p:spPr>
          <a:xfrm>
            <a:off x="4823817" y="2812852"/>
            <a:ext cx="25944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what patients actually cost</a:t>
            </a:r>
            <a:endParaRPr lang="en-US" sz="1600" dirty="0"/>
          </a:p>
        </p:txBody>
      </p:sp>
      <p:pic>
        <p:nvPicPr>
          <p:cNvPr id="11" name="Image 1" descr="arrow-right">    </p:cNvPr>
          <p:cNvPicPr>
            <a:picLocks noChangeAspect="1"/>
          </p:cNvPicPr>
          <p:nvPr/>
        </p:nvPicPr>
        <p:blipFill>
          <a:blip r:embed="rId2"/>
          <a:srcRect l="0" r="0" t="0" b="0"/>
          <a:stretch/>
        </p:blipFill>
        <p:spPr>
          <a:xfrm>
            <a:off x="7755434" y="2718891"/>
            <a:ext cx="406400" cy="203200"/>
          </a:xfrm>
          <a:prstGeom prst="rect">
            <a:avLst/>
          </a:prstGeom>
        </p:spPr>
      </p:pic>
      <p:sp>
        <p:nvSpPr>
          <p:cNvPr id="12" name="Shape 8"/>
          <p:cNvSpPr/>
          <p:nvPr/>
        </p:nvSpPr>
        <p:spPr>
          <a:xfrm>
            <a:off x="8323759" y="1995686"/>
            <a:ext cx="3045916" cy="1649611"/>
          </a:xfrm>
          <a:prstGeom prst="roundRect">
            <a:avLst>
              <a:gd name="adj" fmla="val 5582"/>
            </a:avLst>
          </a:prstGeom>
          <a:solidFill>
            <a:srgbClr val="FFFDF9"/>
          </a:solidFill>
          <a:ln w="19050">
            <a:solidFill>
              <a:srgbClr val="B4501A"/>
            </a:solidFill>
            <a:prstDash val="solid"/>
          </a:ln>
        </p:spPr>
      </p:sp>
      <p:sp>
        <p:nvSpPr>
          <p:cNvPr id="13" name="Text 9"/>
          <p:cNvSpPr/>
          <p:nvPr/>
        </p:nvSpPr>
        <p:spPr>
          <a:xfrm>
            <a:off x="8587284" y="2259211"/>
            <a:ext cx="259443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01A"/>
                </a:solidFill>
                <a:latin typeface="Domine" pitchFamily="18" charset="0"/>
                <a:ea typeface="Domine" pitchFamily="18" charset="-122"/>
                <a:cs typeface="Domine" pitchFamily="18" charset="-120"/>
              </a:rPr>
              <a:t>$10,500</a:t>
            </a:r>
            <a:endParaRPr lang="en-US" sz="3600" dirty="0"/>
          </a:p>
        </p:txBody>
      </p:sp>
      <p:sp>
        <p:nvSpPr>
          <p:cNvPr id="14" name="Text 10"/>
          <p:cNvSpPr/>
          <p:nvPr/>
        </p:nvSpPr>
        <p:spPr>
          <a:xfrm>
            <a:off x="8587284" y="2812852"/>
            <a:ext cx="25944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new target starts here: </a:t>
            </a:r>
            <a:r>
              <a:rPr lang="en-US" sz="1600" b="1" dirty="0">
                <a:solidFill>
                  <a:srgbClr val="3E4C5A"/>
                </a:solidFill>
                <a:latin typeface="Public Sans" pitchFamily="34" charset="0"/>
                <a:ea typeface="Public Sans" pitchFamily="34" charset="-122"/>
                <a:cs typeface="Public Sans" pitchFamily="34" charset="-120"/>
              </a:rPr>
              <a:t>$500 lower</a:t>
            </a:r>
            <a:endParaRPr lang="en-US" sz="1600" dirty="0"/>
          </a:p>
        </p:txBody>
      </p:sp>
      <p:sp>
        <p:nvSpPr>
          <p:cNvPr id="15" name="Text 11"/>
          <p:cNvSpPr/>
          <p:nvPr/>
        </p:nvSpPr>
        <p:spPr>
          <a:xfrm>
            <a:off x="812800" y="4010422"/>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E4C5A"/>
                </a:solidFill>
                <a:latin typeface="Public Sans" pitchFamily="34" charset="0"/>
                <a:ea typeface="Public Sans" pitchFamily="34" charset="-122"/>
                <a:cs typeface="Public Sans" pitchFamily="34" charset="-120"/>
              </a:rPr>
              <a:t>Every few years the target is rebuilt from the group's own recent spending. Beat the target today, and tomorrow's target starts lower.</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595"/>
                </a:solidFill>
                <a:latin typeface="Public Sans" pitchFamily="34" charset="0"/>
                <a:ea typeface="Public Sans" pitchFamily="34" charset="-122"/>
                <a:cs typeface="Public Sans" pitchFamily="34" charset="-120"/>
              </a:rPr>
              <a:t>PART 2 OF A RESET: THE NEIGHBORHOOD</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target is nudged toward local costs</a:t>
            </a:r>
            <a:endParaRPr lang="en-US" sz="3600" dirty="0"/>
          </a:p>
        </p:txBody>
      </p:sp>
      <p:sp>
        <p:nvSpPr>
          <p:cNvPr id="4" name="Shape 2"/>
          <p:cNvSpPr/>
          <p:nvPr/>
        </p:nvSpPr>
        <p:spPr>
          <a:xfrm>
            <a:off x="815975" y="2002036"/>
            <a:ext cx="3405684" cy="1352451"/>
          </a:xfrm>
          <a:prstGeom prst="roundRect">
            <a:avLst>
              <a:gd name="adj" fmla="val 7278"/>
            </a:avLst>
          </a:prstGeom>
          <a:solidFill>
            <a:srgbClr val="FFFDF9"/>
          </a:solidFill>
          <a:ln w="6350">
            <a:solidFill>
              <a:srgbClr val="E2DDD3"/>
            </a:solidFill>
            <a:prstDash val="solid"/>
          </a:ln>
        </p:spPr>
      </p:sp>
      <p:sp>
        <p:nvSpPr>
          <p:cNvPr id="5" name="Text 3"/>
          <p:cNvSpPr/>
          <p:nvPr/>
        </p:nvSpPr>
        <p:spPr>
          <a:xfrm>
            <a:off x="1073150" y="2259211"/>
            <a:ext cx="297807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2A3A"/>
                </a:solidFill>
                <a:latin typeface="Domine" pitchFamily="18" charset="0"/>
                <a:ea typeface="Domine" pitchFamily="18" charset="-122"/>
                <a:cs typeface="Domine" pitchFamily="18" charset="-120"/>
              </a:rPr>
              <a:t>$10,500</a:t>
            </a:r>
            <a:endParaRPr lang="en-US" sz="3600" dirty="0"/>
          </a:p>
        </p:txBody>
      </p:sp>
      <p:sp>
        <p:nvSpPr>
          <p:cNvPr id="6" name="Text 4"/>
          <p:cNvSpPr/>
          <p:nvPr/>
        </p:nvSpPr>
        <p:spPr>
          <a:xfrm>
            <a:off x="1073150" y="2812852"/>
            <a:ext cx="297807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the group's starting point</a:t>
            </a:r>
            <a:endParaRPr lang="en-US" sz="1600" dirty="0"/>
          </a:p>
        </p:txBody>
      </p:sp>
      <p:sp>
        <p:nvSpPr>
          <p:cNvPr id="7" name="Shape 5"/>
          <p:cNvSpPr/>
          <p:nvPr/>
        </p:nvSpPr>
        <p:spPr>
          <a:xfrm>
            <a:off x="4380409" y="2002036"/>
            <a:ext cx="3405783" cy="1352451"/>
          </a:xfrm>
          <a:prstGeom prst="roundRect">
            <a:avLst>
              <a:gd name="adj" fmla="val 7278"/>
            </a:avLst>
          </a:prstGeom>
          <a:solidFill>
            <a:srgbClr val="FFFDF9"/>
          </a:solidFill>
          <a:ln w="6350">
            <a:solidFill>
              <a:srgbClr val="E2DDD3"/>
            </a:solidFill>
            <a:prstDash val="solid"/>
          </a:ln>
        </p:spPr>
      </p:sp>
      <p:sp>
        <p:nvSpPr>
          <p:cNvPr id="8" name="Text 6"/>
          <p:cNvSpPr/>
          <p:nvPr/>
        </p:nvSpPr>
        <p:spPr>
          <a:xfrm>
            <a:off x="4637584" y="2259211"/>
            <a:ext cx="297817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2A3A"/>
                </a:solidFill>
                <a:latin typeface="Domine" pitchFamily="18" charset="0"/>
                <a:ea typeface="Domine" pitchFamily="18" charset="-122"/>
                <a:cs typeface="Domine" pitchFamily="18" charset="-120"/>
              </a:rPr>
              <a:t>$12,000</a:t>
            </a:r>
            <a:endParaRPr lang="en-US" sz="3600" dirty="0"/>
          </a:p>
        </p:txBody>
      </p:sp>
      <p:sp>
        <p:nvSpPr>
          <p:cNvPr id="9" name="Text 7"/>
          <p:cNvSpPr/>
          <p:nvPr/>
        </p:nvSpPr>
        <p:spPr>
          <a:xfrm>
            <a:off x="4637584" y="2812852"/>
            <a:ext cx="297817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similar patients in the region</a:t>
            </a:r>
            <a:endParaRPr lang="en-US" sz="1600" dirty="0"/>
          </a:p>
        </p:txBody>
      </p:sp>
      <p:sp>
        <p:nvSpPr>
          <p:cNvPr id="10" name="Shape 8"/>
          <p:cNvSpPr/>
          <p:nvPr/>
        </p:nvSpPr>
        <p:spPr>
          <a:xfrm>
            <a:off x="7951291" y="1995686"/>
            <a:ext cx="3418384" cy="1365151"/>
          </a:xfrm>
          <a:prstGeom prst="roundRect">
            <a:avLst>
              <a:gd name="adj" fmla="val 6745"/>
            </a:avLst>
          </a:prstGeom>
          <a:solidFill>
            <a:srgbClr val="FFFDF9"/>
          </a:solidFill>
          <a:ln w="19050">
            <a:solidFill>
              <a:srgbClr val="2B6595"/>
            </a:solidFill>
            <a:prstDash val="solid"/>
          </a:ln>
        </p:spPr>
      </p:sp>
      <p:sp>
        <p:nvSpPr>
          <p:cNvPr id="11" name="Text 9"/>
          <p:cNvSpPr/>
          <p:nvPr/>
        </p:nvSpPr>
        <p:spPr>
          <a:xfrm>
            <a:off x="8214816" y="2259211"/>
            <a:ext cx="297807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B6595"/>
                </a:solidFill>
                <a:latin typeface="Domine" pitchFamily="18" charset="0"/>
                <a:ea typeface="Domine" pitchFamily="18" charset="-122"/>
                <a:cs typeface="Domine" pitchFamily="18" charset="-120"/>
              </a:rPr>
              <a:t>+$525</a:t>
            </a:r>
            <a:endParaRPr lang="en-US" sz="3600" dirty="0"/>
          </a:p>
        </p:txBody>
      </p:sp>
      <p:sp>
        <p:nvSpPr>
          <p:cNvPr id="12" name="Text 10"/>
          <p:cNvSpPr/>
          <p:nvPr/>
        </p:nvSpPr>
        <p:spPr>
          <a:xfrm>
            <a:off x="8214816" y="2812852"/>
            <a:ext cx="297807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35% of the $1,500 gap</a:t>
            </a:r>
            <a:endParaRPr lang="en-US" sz="1600" dirty="0"/>
          </a:p>
        </p:txBody>
      </p:sp>
      <p:sp>
        <p:nvSpPr>
          <p:cNvPr id="13" name="Text 11"/>
          <p:cNvSpPr/>
          <p:nvPr/>
        </p:nvSpPr>
        <p:spPr>
          <a:xfrm>
            <a:off x="812800" y="3725962"/>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E4C5A"/>
                </a:solidFill>
                <a:latin typeface="Public Sans" pitchFamily="34" charset="0"/>
                <a:ea typeface="Public Sans" pitchFamily="34" charset="-122"/>
                <a:cs typeface="Public Sans" pitchFamily="34" charset="-120"/>
              </a:rPr>
              <a:t>If care in your area costs more than you do, your new target moves part of the way up toward it.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EF1"/>
        </a:solidFill>
      </p:bgPr>
    </p:bg>
    <p:spTree>
      <p:nvGrpSpPr>
        <p:cNvPr id="1" name=""/>
        <p:cNvGrpSpPr/>
        <p:nvPr/>
      </p:nvGrpSpPr>
      <p:grpSpPr>
        <a:xfrm>
          <a:off x="0" y="0"/>
          <a:ext cx="0" cy="0"/>
          <a:chOff x="0" y="0"/>
          <a:chExt cx="0" cy="0"/>
        </a:xfrm>
      </p:grpSpPr>
      <p:sp>
        <p:nvSpPr>
          <p:cNvPr id="2" name="Text 0"/>
          <p:cNvSpPr/>
          <p:nvPr/>
        </p:nvSpPr>
        <p:spPr>
          <a:xfrm>
            <a:off x="812800" y="18059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ADD THE TWO PARTS TOGETHER</a:t>
            </a:r>
            <a:endParaRPr lang="en-US" sz="1200" dirty="0"/>
          </a:p>
        </p:txBody>
      </p:sp>
      <p:sp>
        <p:nvSpPr>
          <p:cNvPr id="3" name="Text 1"/>
          <p:cNvSpPr/>
          <p:nvPr/>
        </p:nvSpPr>
        <p:spPr>
          <a:xfrm>
            <a:off x="812800" y="23241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B4501A"/>
                </a:solidFill>
                <a:latin typeface="Domine" pitchFamily="18" charset="0"/>
                <a:ea typeface="Domine" pitchFamily="18" charset="-122"/>
                <a:cs typeface="Domine" pitchFamily="18" charset="-120"/>
              </a:rPr>
              <a:t>$10,500</a:t>
            </a:r>
            <a:r>
              <a:rPr lang="en-US" sz="6000" b="1" dirty="0">
                <a:solidFill>
                  <a:srgbClr val="1B2A3A"/>
                </a:solidFill>
                <a:latin typeface="Domine" pitchFamily="18" charset="0"/>
                <a:ea typeface="Domine" pitchFamily="18" charset="-122"/>
                <a:cs typeface="Domine" pitchFamily="18" charset="-120"/>
              </a:rPr>
              <a:t> </a:t>
            </a:r>
            <a:r>
              <a:rPr lang="en-US" sz="6000" b="1" dirty="0">
                <a:solidFill>
                  <a:srgbClr val="2B6595"/>
                </a:solidFill>
                <a:latin typeface="Domine" pitchFamily="18" charset="0"/>
                <a:ea typeface="Domine" pitchFamily="18" charset="-122"/>
                <a:cs typeface="Domine" pitchFamily="18" charset="-120"/>
              </a:rPr>
              <a:t>+ $525</a:t>
            </a:r>
            <a:r>
              <a:rPr lang="en-US" sz="6000" b="1" dirty="0">
                <a:solidFill>
                  <a:srgbClr val="1B2A3A"/>
                </a:solidFill>
                <a:latin typeface="Domine" pitchFamily="18" charset="0"/>
                <a:ea typeface="Domine" pitchFamily="18" charset="-122"/>
                <a:cs typeface="Domine" pitchFamily="18" charset="-120"/>
              </a:rPr>
              <a:t> </a:t>
            </a:r>
            <a:r>
              <a:rPr lang="en-US" sz="6000" b="1" dirty="0">
                <a:solidFill>
                  <a:srgbClr val="1B2A3A"/>
                </a:solidFill>
                <a:latin typeface="Domine" pitchFamily="18" charset="0"/>
                <a:ea typeface="Domine" pitchFamily="18" charset="-122"/>
                <a:cs typeface="Domine" pitchFamily="18" charset="-120"/>
              </a:rPr>
              <a:t>= $11,025</a:t>
            </a:r>
            <a:endParaRPr lang="en-US" sz="6000" dirty="0"/>
          </a:p>
        </p:txBody>
      </p:sp>
      <p:sp>
        <p:nvSpPr>
          <p:cNvPr id="4" name="Text 2"/>
          <p:cNvSpPr/>
          <p:nvPr>
            <p:ph type="title"/>
          </p:nvPr>
        </p:nvSpPr>
        <p:spPr>
          <a:xfrm>
            <a:off x="812800" y="34671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2A3A"/>
                </a:solidFill>
                <a:latin typeface="Domine" pitchFamily="18" charset="0"/>
                <a:ea typeface="Domine" pitchFamily="18" charset="-122"/>
                <a:cs typeface="Domine" pitchFamily="18" charset="-120"/>
              </a:rPr>
              <a:t>Almost exactly where it started.</a:t>
            </a:r>
            <a:endParaRPr lang="en-US" sz="3600" dirty="0"/>
          </a:p>
        </p:txBody>
      </p:sp>
      <p:sp>
        <p:nvSpPr>
          <p:cNvPr id="5" name="Text 3"/>
          <p:cNvSpPr/>
          <p:nvPr/>
        </p:nvSpPr>
        <p:spPr>
          <a:xfrm>
            <a:off x="812800" y="4297660"/>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E4C5A"/>
                </a:solidFill>
                <a:latin typeface="Public Sans" pitchFamily="34" charset="0"/>
                <a:ea typeface="Public Sans" pitchFamily="34" charset="-122"/>
                <a:cs typeface="Public Sans" pitchFamily="34" charset="-120"/>
              </a:rPr>
              <a:t>The loss from beating your target and the gain from your region can cancel out. Hold that thought.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THE PUZZLE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escape hatch: quit early and sign again</a:t>
            </a:r>
            <a:endParaRPr lang="en-US" sz="3600" dirty="0"/>
          </a:p>
        </p:txBody>
      </p:sp>
      <p:sp>
        <p:nvSpPr>
          <p:cNvPr id="4" name="Text 2"/>
          <p:cNvSpPr/>
          <p:nvPr/>
        </p:nvSpPr>
        <p:spPr>
          <a:xfrm>
            <a:off x="812800" y="198616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Contracts normally last five years. A group could end its contract early and start a new one the next day. That did two things at once:</a:t>
            </a:r>
            <a:endParaRPr lang="en-US" sz="1600" dirty="0"/>
          </a:p>
        </p:txBody>
      </p:sp>
      <p:sp>
        <p:nvSpPr>
          <p:cNvPr id="5" name="Shape 3"/>
          <p:cNvSpPr/>
          <p:nvPr/>
        </p:nvSpPr>
        <p:spPr>
          <a:xfrm>
            <a:off x="815975" y="2913856"/>
            <a:ext cx="5175250" cy="1906191"/>
          </a:xfrm>
          <a:prstGeom prst="roundRect">
            <a:avLst>
              <a:gd name="adj" fmla="val 5163"/>
            </a:avLst>
          </a:prstGeom>
          <a:solidFill>
            <a:srgbClr val="FFFDF9"/>
          </a:solidFill>
          <a:ln w="6350">
            <a:solidFill>
              <a:srgbClr val="E2DDD3"/>
            </a:solidFill>
            <a:prstDash val="solid"/>
          </a:ln>
        </p:spPr>
      </p:sp>
      <p:sp>
        <p:nvSpPr>
          <p:cNvPr id="6" name="Text 4"/>
          <p:cNvSpPr/>
          <p:nvPr/>
        </p:nvSpPr>
        <p:spPr>
          <a:xfrm>
            <a:off x="1123950" y="322183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6595"/>
                </a:solidFill>
                <a:latin typeface="Domine" pitchFamily="18" charset="0"/>
                <a:ea typeface="Domine" pitchFamily="18" charset="-122"/>
                <a:cs typeface="Domine" pitchFamily="18" charset="-120"/>
              </a:rPr>
              <a:t>1. Reset the target sooner</a:t>
            </a:r>
            <a:endParaRPr lang="en-US" sz="2200" dirty="0"/>
          </a:p>
        </p:txBody>
      </p:sp>
      <p:sp>
        <p:nvSpPr>
          <p:cNvPr id="7" name="Text 5"/>
          <p:cNvSpPr/>
          <p:nvPr/>
        </p:nvSpPr>
        <p:spPr>
          <a:xfrm>
            <a:off x="1123950" y="365869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 new contract means a new target, built from the two parts we just saw.</a:t>
            </a:r>
            <a:endParaRPr lang="en-US" sz="1600" dirty="0"/>
          </a:p>
        </p:txBody>
      </p:sp>
      <p:sp>
        <p:nvSpPr>
          <p:cNvPr id="8" name="Shape 6"/>
          <p:cNvSpPr/>
          <p:nvPr/>
        </p:nvSpPr>
        <p:spPr>
          <a:xfrm>
            <a:off x="6200775" y="2913856"/>
            <a:ext cx="5175250" cy="1906191"/>
          </a:xfrm>
          <a:prstGeom prst="roundRect">
            <a:avLst>
              <a:gd name="adj" fmla="val 5163"/>
            </a:avLst>
          </a:prstGeom>
          <a:solidFill>
            <a:srgbClr val="FFFDF9"/>
          </a:solidFill>
          <a:ln w="6350">
            <a:solidFill>
              <a:srgbClr val="E2DDD3"/>
            </a:solidFill>
            <a:prstDash val="solid"/>
          </a:ln>
        </p:spPr>
      </p:sp>
      <p:sp>
        <p:nvSpPr>
          <p:cNvPr id="9" name="Text 7"/>
          <p:cNvSpPr/>
          <p:nvPr/>
        </p:nvSpPr>
        <p:spPr>
          <a:xfrm>
            <a:off x="6508750" y="322183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4501A"/>
                </a:solidFill>
                <a:latin typeface="Domine" pitchFamily="18" charset="0"/>
                <a:ea typeface="Domine" pitchFamily="18" charset="-122"/>
                <a:cs typeface="Domine" pitchFamily="18" charset="-120"/>
              </a:rPr>
              <a:t>2. Unlock the bigger share</a:t>
            </a:r>
            <a:endParaRPr lang="en-US" sz="2200" dirty="0"/>
          </a:p>
        </p:txBody>
      </p:sp>
      <p:sp>
        <p:nvSpPr>
          <p:cNvPr id="10" name="Text 8"/>
          <p:cNvSpPr/>
          <p:nvPr/>
        </p:nvSpPr>
        <p:spPr>
          <a:xfrm>
            <a:off x="6508750" y="3658691"/>
            <a:ext cx="469607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Under the 2022 rules, it was the only way for most groups to move up to the 75% track mid-contract.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WHO TOOK IT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In 2022, 29 groups took the escape hatch</a:t>
            </a:r>
            <a:endParaRPr lang="en-US" sz="3600" dirty="0"/>
          </a:p>
        </p:txBody>
      </p:sp>
      <p:sp>
        <p:nvSpPr>
          <p:cNvPr id="4" name="Text 2"/>
          <p:cNvSpPr/>
          <p:nvPr/>
        </p:nvSpPr>
        <p:spPr>
          <a:xfrm>
            <a:off x="812800" y="19861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Out of 334 groups whose contracts began in mid-2019 or January 2020:</a:t>
            </a:r>
            <a:endParaRPr lang="en-US" sz="1600" dirty="0"/>
          </a:p>
        </p:txBody>
      </p:sp>
      <p:sp>
        <p:nvSpPr>
          <p:cNvPr id="5" name="Shape 3"/>
          <p:cNvSpPr/>
          <p:nvPr/>
        </p:nvSpPr>
        <p:spPr>
          <a:xfrm>
            <a:off x="812800" y="2626221"/>
            <a:ext cx="3386634" cy="2092920"/>
          </a:xfrm>
          <a:prstGeom prst="roundRect">
            <a:avLst>
              <a:gd name="adj" fmla="val 4854"/>
            </a:avLst>
          </a:prstGeom>
          <a:solidFill>
            <a:srgbClr val="FFFDF9"/>
          </a:solidFill>
          <a:ln/>
        </p:spPr>
      </p:sp>
      <p:sp>
        <p:nvSpPr>
          <p:cNvPr id="6" name="Shape 4"/>
          <p:cNvSpPr/>
          <p:nvPr/>
        </p:nvSpPr>
        <p:spPr>
          <a:xfrm>
            <a:off x="812800" y="2626221"/>
            <a:ext cx="3386634" cy="2092920"/>
          </a:xfrm>
          <a:custGeom>
            <a:avLst/>
            <a:gdLst/>
            <a:ahLst/>
            <a:cxnLst/>
            <a:rect l="l" t="t" r="r" b="b"/>
            <a:pathLst>
              <a:path w="3386634" h="2092920">
                <a:moveTo>
                  <a:pt x="0" y="101600"/>
                </a:moveTo>
                <a:lnTo>
                  <a:pt x="0" y="101600"/>
                </a:lnTo>
                <a:arcTo hR="101600" wR="101600" stAng="10800000" swAng="5400000"/>
                <a:lnTo>
                  <a:pt x="3285034" y="0"/>
                </a:lnTo>
                <a:arcTo hR="101600" wR="101600" stAng="16200000" swAng="5400000"/>
                <a:lnTo>
                  <a:pt x="3386634" y="101600"/>
                </a:lnTo>
                <a:arcTo hR="25400" wR="101600" stAng="0" swAng="-5400000"/>
                <a:lnTo>
                  <a:pt x="101600" y="76200"/>
                </a:lnTo>
                <a:arcTo hR="25400" wR="101600" stAng="16200000" swAng="-5400000"/>
                <a:close/>
              </a:path>
            </a:pathLst>
          </a:custGeom>
          <a:solidFill>
            <a:srgbClr val="B4501A"/>
          </a:solidFill>
          <a:ln/>
        </p:spPr>
      </p:sp>
      <p:sp>
        <p:nvSpPr>
          <p:cNvPr id="7" name="Text 5"/>
          <p:cNvSpPr/>
          <p:nvPr/>
        </p:nvSpPr>
        <p:spPr>
          <a:xfrm>
            <a:off x="1117600" y="3007221"/>
            <a:ext cx="286034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01A"/>
                </a:solidFill>
                <a:latin typeface="Domine" pitchFamily="18" charset="0"/>
                <a:ea typeface="Domine" pitchFamily="18" charset="-122"/>
                <a:cs typeface="Domine" pitchFamily="18" charset="-120"/>
              </a:rPr>
              <a:t>29</a:t>
            </a:r>
            <a:endParaRPr lang="en-US" sz="6000" dirty="0"/>
          </a:p>
        </p:txBody>
      </p:sp>
      <p:sp>
        <p:nvSpPr>
          <p:cNvPr id="8" name="Text 6"/>
          <p:cNvSpPr/>
          <p:nvPr/>
        </p:nvSpPr>
        <p:spPr>
          <a:xfrm>
            <a:off x="1117600" y="3845421"/>
            <a:ext cx="286034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renewed early</a:t>
            </a:r>
            <a:r>
              <a:rPr lang="en-US" sz="1600" dirty="0">
                <a:solidFill>
                  <a:srgbClr val="3E4C5A"/>
                </a:solidFill>
                <a:latin typeface="Public Sans" pitchFamily="34" charset="0"/>
                <a:ea typeface="Public Sans" pitchFamily="34" charset="-122"/>
                <a:cs typeface="Public Sans" pitchFamily="34" charset="-120"/>
              </a:rPr>
              <a:t> on January 1, 2022</a:t>
            </a:r>
            <a:endParaRPr lang="en-US" sz="1600" dirty="0"/>
          </a:p>
        </p:txBody>
      </p:sp>
      <p:sp>
        <p:nvSpPr>
          <p:cNvPr id="9" name="Shape 7"/>
          <p:cNvSpPr/>
          <p:nvPr/>
        </p:nvSpPr>
        <p:spPr>
          <a:xfrm>
            <a:off x="4402634" y="2626221"/>
            <a:ext cx="3386733" cy="2092920"/>
          </a:xfrm>
          <a:prstGeom prst="roundRect">
            <a:avLst>
              <a:gd name="adj" fmla="val 4854"/>
            </a:avLst>
          </a:prstGeom>
          <a:solidFill>
            <a:srgbClr val="FFFDF9"/>
          </a:solidFill>
          <a:ln/>
        </p:spPr>
      </p:sp>
      <p:sp>
        <p:nvSpPr>
          <p:cNvPr id="10" name="Shape 8"/>
          <p:cNvSpPr/>
          <p:nvPr/>
        </p:nvSpPr>
        <p:spPr>
          <a:xfrm>
            <a:off x="4402634" y="2626221"/>
            <a:ext cx="3386733" cy="2092920"/>
          </a:xfrm>
          <a:custGeom>
            <a:avLst/>
            <a:gdLst/>
            <a:ahLst/>
            <a:cxnLst/>
            <a:rect l="l" t="t" r="r" b="b"/>
            <a:pathLst>
              <a:path w="3386733" h="2092920">
                <a:moveTo>
                  <a:pt x="0" y="101600"/>
                </a:moveTo>
                <a:lnTo>
                  <a:pt x="0" y="101600"/>
                </a:lnTo>
                <a:arcTo hR="101600" wR="101600" stAng="10800000" swAng="5400000"/>
                <a:lnTo>
                  <a:pt x="3285133" y="0"/>
                </a:lnTo>
                <a:arcTo hR="101600" wR="101600" stAng="16200000" swAng="5400000"/>
                <a:lnTo>
                  <a:pt x="3386733" y="101600"/>
                </a:lnTo>
                <a:arcTo hR="25400" wR="101600" stAng="0" swAng="-5400000"/>
                <a:lnTo>
                  <a:pt x="101600" y="76200"/>
                </a:lnTo>
                <a:arcTo hR="25400" wR="101600" stAng="16200000" swAng="-5400000"/>
                <a:close/>
              </a:path>
            </a:pathLst>
          </a:custGeom>
          <a:solidFill>
            <a:srgbClr val="2B6595"/>
          </a:solidFill>
          <a:ln/>
        </p:spPr>
      </p:sp>
      <p:sp>
        <p:nvSpPr>
          <p:cNvPr id="11" name="Text 9"/>
          <p:cNvSpPr/>
          <p:nvPr/>
        </p:nvSpPr>
        <p:spPr>
          <a:xfrm>
            <a:off x="4707434" y="3007221"/>
            <a:ext cx="286044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B6595"/>
                </a:solidFill>
                <a:latin typeface="Domine" pitchFamily="18" charset="0"/>
                <a:ea typeface="Domine" pitchFamily="18" charset="-122"/>
                <a:cs typeface="Domine" pitchFamily="18" charset="-120"/>
              </a:rPr>
              <a:t>277</a:t>
            </a:r>
            <a:endParaRPr lang="en-US" sz="6000" dirty="0"/>
          </a:p>
        </p:txBody>
      </p:sp>
      <p:sp>
        <p:nvSpPr>
          <p:cNvPr id="12" name="Text 10"/>
          <p:cNvSpPr/>
          <p:nvPr/>
        </p:nvSpPr>
        <p:spPr>
          <a:xfrm>
            <a:off x="4707434" y="3845421"/>
            <a:ext cx="28604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stayed</a:t>
            </a:r>
            <a:r>
              <a:rPr lang="en-US" sz="1600" dirty="0">
                <a:solidFill>
                  <a:srgbClr val="3E4C5A"/>
                </a:solidFill>
                <a:latin typeface="Public Sans" pitchFamily="34" charset="0"/>
                <a:ea typeface="Public Sans" pitchFamily="34" charset="-122"/>
                <a:cs typeface="Public Sans" pitchFamily="34" charset="-120"/>
              </a:rPr>
              <a:t> in their contracts</a:t>
            </a:r>
            <a:endParaRPr lang="en-US" sz="1600" dirty="0"/>
          </a:p>
        </p:txBody>
      </p:sp>
      <p:sp>
        <p:nvSpPr>
          <p:cNvPr id="13" name="Shape 11"/>
          <p:cNvSpPr/>
          <p:nvPr/>
        </p:nvSpPr>
        <p:spPr>
          <a:xfrm>
            <a:off x="7992566" y="2626221"/>
            <a:ext cx="3386634" cy="2092920"/>
          </a:xfrm>
          <a:prstGeom prst="roundRect">
            <a:avLst>
              <a:gd name="adj" fmla="val 4854"/>
            </a:avLst>
          </a:prstGeom>
          <a:solidFill>
            <a:srgbClr val="FFFDF9"/>
          </a:solidFill>
          <a:ln/>
        </p:spPr>
      </p:sp>
      <p:sp>
        <p:nvSpPr>
          <p:cNvPr id="14" name="Shape 12"/>
          <p:cNvSpPr/>
          <p:nvPr/>
        </p:nvSpPr>
        <p:spPr>
          <a:xfrm>
            <a:off x="7992566" y="2626221"/>
            <a:ext cx="3386634" cy="2092920"/>
          </a:xfrm>
          <a:custGeom>
            <a:avLst/>
            <a:gdLst/>
            <a:ahLst/>
            <a:cxnLst/>
            <a:rect l="l" t="t" r="r" b="b"/>
            <a:pathLst>
              <a:path w="3386634" h="2092920">
                <a:moveTo>
                  <a:pt x="0" y="101600"/>
                </a:moveTo>
                <a:lnTo>
                  <a:pt x="0" y="101600"/>
                </a:lnTo>
                <a:arcTo hR="101600" wR="101600" stAng="10800000" swAng="5400000"/>
                <a:lnTo>
                  <a:pt x="3285034" y="0"/>
                </a:lnTo>
                <a:arcTo hR="101600" wR="101600" stAng="16200000" swAng="5400000"/>
                <a:lnTo>
                  <a:pt x="3386634" y="101600"/>
                </a:lnTo>
                <a:arcTo hR="25400" wR="101600" stAng="0" swAng="-5400000"/>
                <a:lnTo>
                  <a:pt x="101600" y="76200"/>
                </a:lnTo>
                <a:arcTo hR="25400" wR="101600" stAng="16200000" swAng="-5400000"/>
                <a:close/>
              </a:path>
            </a:pathLst>
          </a:custGeom>
          <a:solidFill>
            <a:srgbClr val="5E6873"/>
          </a:solidFill>
          <a:ln/>
        </p:spPr>
      </p:sp>
      <p:sp>
        <p:nvSpPr>
          <p:cNvPr id="15" name="Text 13"/>
          <p:cNvSpPr/>
          <p:nvPr/>
        </p:nvSpPr>
        <p:spPr>
          <a:xfrm>
            <a:off x="8297366" y="3007221"/>
            <a:ext cx="286034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5E6873"/>
                </a:solidFill>
                <a:latin typeface="Domine" pitchFamily="18" charset="0"/>
                <a:ea typeface="Domine" pitchFamily="18" charset="-122"/>
                <a:cs typeface="Domine" pitchFamily="18" charset="-120"/>
              </a:rPr>
              <a:t>28</a:t>
            </a:r>
            <a:endParaRPr lang="en-US" sz="6000" dirty="0"/>
          </a:p>
        </p:txBody>
      </p:sp>
      <p:sp>
        <p:nvSpPr>
          <p:cNvPr id="16" name="Text 14"/>
          <p:cNvSpPr/>
          <p:nvPr/>
        </p:nvSpPr>
        <p:spPr>
          <a:xfrm>
            <a:off x="8297366" y="3845421"/>
            <a:ext cx="286034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left</a:t>
            </a:r>
            <a:r>
              <a:rPr lang="en-US" sz="1600" dirty="0">
                <a:solidFill>
                  <a:srgbClr val="3E4C5A"/>
                </a:solidFill>
                <a:latin typeface="Public Sans" pitchFamily="34" charset="0"/>
                <a:ea typeface="Public Sans" pitchFamily="34" charset="-122"/>
                <a:cs typeface="Public Sans" pitchFamily="34" charset="-120"/>
              </a:rPr>
              <a:t> the program</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Source: CMS Shared Savings Program enrollment files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TWO SUSPECTS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Two possible reasons, tangled together</a:t>
            </a:r>
            <a:endParaRPr lang="en-US" sz="3600" dirty="0"/>
          </a:p>
        </p:txBody>
      </p:sp>
      <p:sp>
        <p:nvSpPr>
          <p:cNvPr id="4" name="Shape 2"/>
          <p:cNvSpPr/>
          <p:nvPr/>
        </p:nvSpPr>
        <p:spPr>
          <a:xfrm>
            <a:off x="815975" y="1989336"/>
            <a:ext cx="5175250" cy="1621730"/>
          </a:xfrm>
          <a:prstGeom prst="roundRect">
            <a:avLst>
              <a:gd name="adj" fmla="val 6069"/>
            </a:avLst>
          </a:prstGeom>
          <a:solidFill>
            <a:srgbClr val="FFFDF9"/>
          </a:solidFill>
          <a:ln w="6350">
            <a:solidFill>
              <a:srgbClr val="E2DDD3"/>
            </a:solidFill>
            <a:prstDash val="solid"/>
          </a:ln>
        </p:spPr>
      </p:sp>
      <p:sp>
        <p:nvSpPr>
          <p:cNvPr id="5" name="Text 3"/>
          <p:cNvSpPr/>
          <p:nvPr/>
        </p:nvSpPr>
        <p:spPr>
          <a:xfrm>
            <a:off x="1123950" y="22973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6595"/>
                </a:solidFill>
                <a:latin typeface="Domine" pitchFamily="18" charset="0"/>
                <a:ea typeface="Domine" pitchFamily="18" charset="-122"/>
                <a:cs typeface="Domine" pitchFamily="18" charset="-120"/>
              </a:rPr>
              <a:t>A: A better target</a:t>
            </a:r>
            <a:endParaRPr lang="en-US" sz="2200" dirty="0"/>
          </a:p>
        </p:txBody>
      </p:sp>
      <p:sp>
        <p:nvSpPr>
          <p:cNvPr id="6" name="Text 4"/>
          <p:cNvSpPr/>
          <p:nvPr/>
        </p:nvSpPr>
        <p:spPr>
          <a:xfrm>
            <a:off x="1123950" y="273417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Reset because the new target would come out higher than the old one.</a:t>
            </a:r>
            <a:endParaRPr lang="en-US" sz="1600" dirty="0"/>
          </a:p>
        </p:txBody>
      </p:sp>
      <p:sp>
        <p:nvSpPr>
          <p:cNvPr id="7" name="Shape 5"/>
          <p:cNvSpPr/>
          <p:nvPr/>
        </p:nvSpPr>
        <p:spPr>
          <a:xfrm>
            <a:off x="6200775" y="1989336"/>
            <a:ext cx="5175250" cy="1621730"/>
          </a:xfrm>
          <a:prstGeom prst="roundRect">
            <a:avLst>
              <a:gd name="adj" fmla="val 6069"/>
            </a:avLst>
          </a:prstGeom>
          <a:solidFill>
            <a:srgbClr val="FFFDF9"/>
          </a:solidFill>
          <a:ln w="6350">
            <a:solidFill>
              <a:srgbClr val="E2DDD3"/>
            </a:solidFill>
            <a:prstDash val="solid"/>
          </a:ln>
        </p:spPr>
      </p:sp>
      <p:sp>
        <p:nvSpPr>
          <p:cNvPr id="8" name="Text 6"/>
          <p:cNvSpPr/>
          <p:nvPr/>
        </p:nvSpPr>
        <p:spPr>
          <a:xfrm>
            <a:off x="6508750" y="22973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4501A"/>
                </a:solidFill>
                <a:latin typeface="Domine" pitchFamily="18" charset="0"/>
                <a:ea typeface="Domine" pitchFamily="18" charset="-122"/>
                <a:cs typeface="Domine" pitchFamily="18" charset="-120"/>
              </a:rPr>
              <a:t>B: A bigger share</a:t>
            </a:r>
            <a:endParaRPr lang="en-US" sz="2200" dirty="0"/>
          </a:p>
        </p:txBody>
      </p:sp>
      <p:sp>
        <p:nvSpPr>
          <p:cNvPr id="9" name="Text 7"/>
          <p:cNvSpPr/>
          <p:nvPr/>
        </p:nvSpPr>
        <p:spPr>
          <a:xfrm>
            <a:off x="6508750" y="273417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Reset because it was the way into the track that keeps 75% of savings.</a:t>
            </a:r>
            <a:endParaRPr lang="en-US" sz="1600" dirty="0"/>
          </a:p>
        </p:txBody>
      </p:sp>
      <p:sp>
        <p:nvSpPr>
          <p:cNvPr id="10" name="Text 8"/>
          <p:cNvSpPr/>
          <p:nvPr/>
        </p:nvSpPr>
        <p:spPr>
          <a:xfrm>
            <a:off x="812800" y="3969841"/>
            <a:ext cx="10883392" cy="40253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B2A3A"/>
                </a:solidFill>
                <a:latin typeface="Public Sans" pitchFamily="34" charset="0"/>
                <a:ea typeface="Public Sans" pitchFamily="34" charset="-122"/>
                <a:cs typeface="Public Sans" pitchFamily="34" charset="-120"/>
              </a:rPr>
              <a:t>Both came with the same decision, so no test can fully pull them apart.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20061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A"/>
                </a:solidFill>
                <a:latin typeface="Public Sans" pitchFamily="34" charset="0"/>
                <a:ea typeface="Public Sans" pitchFamily="34" charset="-122"/>
                <a:cs typeface="Public Sans" pitchFamily="34" charset="-120"/>
              </a:rPr>
              <a:t>BEFORE LOOKING AT ANY RESULTS</a:t>
            </a:r>
            <a:endParaRPr lang="en-US" sz="1200" dirty="0"/>
          </a:p>
        </p:txBody>
      </p:sp>
      <p:sp>
        <p:nvSpPr>
          <p:cNvPr id="3" name="Text 1"/>
          <p:cNvSpPr/>
          <p:nvPr>
            <p:ph type="title"/>
          </p:nvPr>
        </p:nvSpPr>
        <p:spPr>
          <a:xfrm>
            <a:off x="812800" y="2524224"/>
            <a:ext cx="10883392" cy="1671141"/>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F7F4EE"/>
                </a:solidFill>
                <a:latin typeface="Domine" pitchFamily="18" charset="0"/>
                <a:ea typeface="Domine" pitchFamily="18" charset="-122"/>
                <a:cs typeface="Domine" pitchFamily="18" charset="-120"/>
              </a:rPr>
              <a:t>I wrote down every question, every test, and the exact words I'd use for each possible answer, and posted it publicly.</a:t>
            </a:r>
            <a:endParaRPr lang="en-US" sz="3600" dirty="0"/>
          </a:p>
        </p:txBody>
      </p:sp>
      <p:sp>
        <p:nvSpPr>
          <p:cNvPr id="4" name="Text 2"/>
          <p:cNvSpPr/>
          <p:nvPr/>
        </p:nvSpPr>
        <p:spPr>
          <a:xfrm>
            <a:off x="812800" y="4474766"/>
            <a:ext cx="10883392" cy="40253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3DC"/>
                </a:solidFill>
                <a:latin typeface="Public Sans" pitchFamily="34" charset="0"/>
                <a:ea typeface="Public Sans" pitchFamily="34" charset="-122"/>
                <a:cs typeface="Public Sans" pitchFamily="34" charset="-120"/>
              </a:rPr>
              <a:t>Like calling your shot in pool: which ball, which pocket, before you hit.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HOW YOU CAN CHECK</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Three locks on the process</a:t>
            </a:r>
            <a:endParaRPr lang="en-US" sz="3600" dirty="0"/>
          </a:p>
        </p:txBody>
      </p:sp>
      <p:sp>
        <p:nvSpPr>
          <p:cNvPr id="4" name="Shape 2"/>
          <p:cNvSpPr/>
          <p:nvPr/>
        </p:nvSpPr>
        <p:spPr>
          <a:xfrm>
            <a:off x="815975" y="1989336"/>
            <a:ext cx="3380284" cy="3033911"/>
          </a:xfrm>
          <a:prstGeom prst="roundRect">
            <a:avLst>
              <a:gd name="adj" fmla="val 3244"/>
            </a:avLst>
          </a:prstGeom>
          <a:solidFill>
            <a:srgbClr val="FFFDF9"/>
          </a:solidFill>
          <a:ln w="6350">
            <a:solidFill>
              <a:srgbClr val="E2DDD3"/>
            </a:solidFill>
            <a:prstDash val="solid"/>
          </a:ln>
        </p:spPr>
      </p:sp>
      <p:pic>
        <p:nvPicPr>
          <p:cNvPr id="5" name="Image 0" descr="Clock">    </p:cNvPr>
          <p:cNvPicPr>
            <a:picLocks noChangeAspect="1"/>
          </p:cNvPicPr>
          <p:nvPr/>
        </p:nvPicPr>
        <p:blipFill>
          <a:blip r:embed="rId1"/>
          <a:srcRect l="0" r="0" t="0" b="0"/>
          <a:stretch/>
        </p:blipFill>
        <p:spPr>
          <a:xfrm>
            <a:off x="1123950" y="2297311"/>
            <a:ext cx="406400" cy="406400"/>
          </a:xfrm>
          <a:prstGeom prst="rect">
            <a:avLst/>
          </a:prstGeom>
        </p:spPr>
      </p:pic>
      <p:sp>
        <p:nvSpPr>
          <p:cNvPr id="6" name="Text 3"/>
          <p:cNvSpPr/>
          <p:nvPr/>
        </p:nvSpPr>
        <p:spPr>
          <a:xfrm>
            <a:off x="1123950" y="2830711"/>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3A"/>
                </a:solidFill>
                <a:latin typeface="Domine" pitchFamily="18" charset="0"/>
                <a:ea typeface="Domine" pitchFamily="18" charset="-122"/>
                <a:cs typeface="Domine" pitchFamily="18" charset="-120"/>
              </a:rPr>
              <a:t>Public timestamp</a:t>
            </a:r>
            <a:endParaRPr lang="en-US" sz="2200" dirty="0"/>
          </a:p>
        </p:txBody>
      </p:sp>
      <p:sp>
        <p:nvSpPr>
          <p:cNvPr id="7" name="Text 4"/>
          <p:cNvSpPr/>
          <p:nvPr/>
        </p:nvSpPr>
        <p:spPr>
          <a:xfrm>
            <a:off x="1123950" y="3292971"/>
            <a:ext cx="2847264"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The plan was registered on OSF, an independent site that records the time itself: October 26, 2026.</a:t>
            </a:r>
            <a:endParaRPr lang="en-US" sz="1600" dirty="0"/>
          </a:p>
        </p:txBody>
      </p:sp>
      <p:sp>
        <p:nvSpPr>
          <p:cNvPr id="8" name="Shape 5"/>
          <p:cNvSpPr/>
          <p:nvPr/>
        </p:nvSpPr>
        <p:spPr>
          <a:xfrm>
            <a:off x="4405809" y="1989336"/>
            <a:ext cx="3380383" cy="3033911"/>
          </a:xfrm>
          <a:prstGeom prst="roundRect">
            <a:avLst>
              <a:gd name="adj" fmla="val 3244"/>
            </a:avLst>
          </a:prstGeom>
          <a:solidFill>
            <a:srgbClr val="FFFDF9"/>
          </a:solidFill>
          <a:ln w="6350">
            <a:solidFill>
              <a:srgbClr val="E2DDD3"/>
            </a:solidFill>
            <a:prstDash val="solid"/>
          </a:ln>
        </p:spPr>
      </p:sp>
      <p:pic>
        <p:nvPicPr>
          <p:cNvPr id="9" name="Image 1" descr="Lock">    </p:cNvPr>
          <p:cNvPicPr>
            <a:picLocks noChangeAspect="1"/>
          </p:cNvPicPr>
          <p:nvPr/>
        </p:nvPicPr>
        <p:blipFill>
          <a:blip r:embed="rId2"/>
          <a:srcRect l="0" r="0" t="0" b="0"/>
          <a:stretch/>
        </p:blipFill>
        <p:spPr>
          <a:xfrm>
            <a:off x="4713784" y="2297311"/>
            <a:ext cx="406400" cy="406400"/>
          </a:xfrm>
          <a:prstGeom prst="rect">
            <a:avLst/>
          </a:prstGeom>
        </p:spPr>
      </p:pic>
      <p:sp>
        <p:nvSpPr>
          <p:cNvPr id="10" name="Text 6"/>
          <p:cNvSpPr/>
          <p:nvPr/>
        </p:nvSpPr>
        <p:spPr>
          <a:xfrm>
            <a:off x="4713784" y="2830711"/>
            <a:ext cx="284736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3A"/>
                </a:solidFill>
                <a:latin typeface="Domine" pitchFamily="18" charset="0"/>
                <a:ea typeface="Domine" pitchFamily="18" charset="-122"/>
                <a:cs typeface="Domine" pitchFamily="18" charset="-120"/>
              </a:rPr>
              <a:t>Locked data</a:t>
            </a:r>
            <a:endParaRPr lang="en-US" sz="2200" dirty="0"/>
          </a:p>
        </p:txBody>
      </p:sp>
      <p:sp>
        <p:nvSpPr>
          <p:cNvPr id="11" name="Text 7"/>
          <p:cNvSpPr/>
          <p:nvPr/>
        </p:nvSpPr>
        <p:spPr>
          <a:xfrm>
            <a:off x="4713784" y="3292971"/>
            <a:ext cx="284736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The code refused to open any spending or results file until the plan was registered. No override.</a:t>
            </a:r>
            <a:endParaRPr lang="en-US" sz="1600" dirty="0"/>
          </a:p>
        </p:txBody>
      </p:sp>
      <p:sp>
        <p:nvSpPr>
          <p:cNvPr id="12" name="Shape 8"/>
          <p:cNvSpPr/>
          <p:nvPr/>
        </p:nvSpPr>
        <p:spPr>
          <a:xfrm>
            <a:off x="7995741" y="1989336"/>
            <a:ext cx="3380284" cy="3033911"/>
          </a:xfrm>
          <a:prstGeom prst="roundRect">
            <a:avLst>
              <a:gd name="adj" fmla="val 3244"/>
            </a:avLst>
          </a:prstGeom>
          <a:solidFill>
            <a:srgbClr val="FFFDF9"/>
          </a:solidFill>
          <a:ln w="6350">
            <a:solidFill>
              <a:srgbClr val="E2DDD3"/>
            </a:solidFill>
            <a:prstDash val="solid"/>
          </a:ln>
        </p:spPr>
      </p:sp>
      <p:pic>
        <p:nvPicPr>
          <p:cNvPr id="13" name="Image 2" descr="Wrench">    </p:cNvPr>
          <p:cNvPicPr>
            <a:picLocks noChangeAspect="1"/>
          </p:cNvPicPr>
          <p:nvPr/>
        </p:nvPicPr>
        <p:blipFill>
          <a:blip r:embed="rId3"/>
          <a:srcRect l="0" r="0" t="0" b="0"/>
          <a:stretch/>
        </p:blipFill>
        <p:spPr>
          <a:xfrm>
            <a:off x="8303716" y="2297311"/>
            <a:ext cx="406400" cy="406400"/>
          </a:xfrm>
          <a:prstGeom prst="rect">
            <a:avLst/>
          </a:prstGeom>
        </p:spPr>
      </p:pic>
      <p:sp>
        <p:nvSpPr>
          <p:cNvPr id="14" name="Text 9"/>
          <p:cNvSpPr/>
          <p:nvPr/>
        </p:nvSpPr>
        <p:spPr>
          <a:xfrm>
            <a:off x="8303716" y="2830711"/>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3A"/>
                </a:solidFill>
                <a:latin typeface="Domine" pitchFamily="18" charset="0"/>
                <a:ea typeface="Domine" pitchFamily="18" charset="-122"/>
                <a:cs typeface="Domine" pitchFamily="18" charset="-120"/>
              </a:rPr>
              <a:t>Practice run</a:t>
            </a:r>
            <a:endParaRPr lang="en-US" sz="2200" dirty="0"/>
          </a:p>
        </p:txBody>
      </p:sp>
      <p:sp>
        <p:nvSpPr>
          <p:cNvPr id="15" name="Text 10"/>
          <p:cNvSpPr/>
          <p:nvPr/>
        </p:nvSpPr>
        <p:spPr>
          <a:xfrm>
            <a:off x="8303716" y="3292971"/>
            <a:ext cx="2847264"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Everything was tested first on fake data with known answers planted in it, to prove the code could find them.</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FIRST, A CHECK</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Can the target be rebuilt?</a:t>
            </a:r>
            <a:endParaRPr lang="en-US" sz="3600" dirty="0"/>
          </a:p>
        </p:txBody>
      </p:sp>
      <p:sp>
        <p:nvSpPr>
          <p:cNvPr id="4" name="Text 2"/>
          <p:cNvSpPr/>
          <p:nvPr/>
        </p:nvSpPr>
        <p:spPr>
          <a:xfrm>
            <a:off x="812800" y="198616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Medicare doesn't publish what a group's target would have been after a reset, so I rebuilt it. I tested the rebuild on 101 groups whose real new targets Medicare did publish, with a pass mark set in advance.</a:t>
            </a:r>
            <a:endParaRPr lang="en-US" sz="1600" dirty="0"/>
          </a:p>
        </p:txBody>
      </p:sp>
      <p:sp>
        <p:nvSpPr>
          <p:cNvPr id="5" name="Shape 3"/>
          <p:cNvSpPr/>
          <p:nvPr/>
        </p:nvSpPr>
        <p:spPr>
          <a:xfrm>
            <a:off x="815975" y="2913856"/>
            <a:ext cx="5175250" cy="2028130"/>
          </a:xfrm>
          <a:prstGeom prst="roundRect">
            <a:avLst>
              <a:gd name="adj" fmla="val 4853"/>
            </a:avLst>
          </a:prstGeom>
          <a:solidFill>
            <a:srgbClr val="FFFDF9"/>
          </a:solidFill>
          <a:ln w="6350">
            <a:solidFill>
              <a:srgbClr val="E2DDD3"/>
            </a:solidFill>
            <a:prstDash val="solid"/>
          </a:ln>
        </p:spPr>
      </p:sp>
      <p:sp>
        <p:nvSpPr>
          <p:cNvPr id="6" name="Text 4"/>
          <p:cNvSpPr/>
          <p:nvPr/>
        </p:nvSpPr>
        <p:spPr>
          <a:xfrm>
            <a:off x="1123950" y="3221831"/>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2A3A"/>
                </a:solidFill>
                <a:latin typeface="Domine" pitchFamily="18" charset="0"/>
                <a:ea typeface="Domine" pitchFamily="18" charset="-122"/>
                <a:cs typeface="Domine" pitchFamily="18" charset="-120"/>
              </a:rPr>
              <a:t>0.94</a:t>
            </a:r>
            <a:endParaRPr lang="en-US" sz="6000" dirty="0"/>
          </a:p>
        </p:txBody>
      </p:sp>
      <p:sp>
        <p:nvSpPr>
          <p:cNvPr id="7" name="Text 5"/>
          <p:cNvSpPr/>
          <p:nvPr/>
        </p:nvSpPr>
        <p:spPr>
          <a:xfrm>
            <a:off x="1123950" y="4060031"/>
            <a:ext cx="46960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agreement in ranking groups (1.0 = perfect)</a:t>
            </a:r>
            <a:endParaRPr lang="en-US" sz="1600" dirty="0"/>
          </a:p>
        </p:txBody>
      </p:sp>
      <p:sp>
        <p:nvSpPr>
          <p:cNvPr id="8" name="Text 6"/>
          <p:cNvSpPr/>
          <p:nvPr/>
        </p:nvSpPr>
        <p:spPr>
          <a:xfrm>
            <a:off x="1123950" y="442069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Pass mark: at least 0.80</a:t>
            </a:r>
            <a:endParaRPr lang="en-US" sz="1200" dirty="0"/>
          </a:p>
        </p:txBody>
      </p:sp>
      <p:sp>
        <p:nvSpPr>
          <p:cNvPr id="9" name="Shape 7"/>
          <p:cNvSpPr/>
          <p:nvPr/>
        </p:nvSpPr>
        <p:spPr>
          <a:xfrm>
            <a:off x="6200775" y="2913856"/>
            <a:ext cx="5175250" cy="2028130"/>
          </a:xfrm>
          <a:prstGeom prst="roundRect">
            <a:avLst>
              <a:gd name="adj" fmla="val 4853"/>
            </a:avLst>
          </a:prstGeom>
          <a:solidFill>
            <a:srgbClr val="FFFDF9"/>
          </a:solidFill>
          <a:ln w="6350">
            <a:solidFill>
              <a:srgbClr val="E2DDD3"/>
            </a:solidFill>
            <a:prstDash val="solid"/>
          </a:ln>
        </p:spPr>
      </p:sp>
      <p:sp>
        <p:nvSpPr>
          <p:cNvPr id="10" name="Text 8"/>
          <p:cNvSpPr/>
          <p:nvPr/>
        </p:nvSpPr>
        <p:spPr>
          <a:xfrm>
            <a:off x="6508750" y="3221831"/>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2A3A"/>
                </a:solidFill>
                <a:latin typeface="Domine" pitchFamily="18" charset="0"/>
                <a:ea typeface="Domine" pitchFamily="18" charset="-122"/>
                <a:cs typeface="Domine" pitchFamily="18" charset="-120"/>
              </a:rPr>
              <a:t>1.6%</a:t>
            </a:r>
            <a:endParaRPr lang="en-US" sz="6000" dirty="0"/>
          </a:p>
        </p:txBody>
      </p:sp>
      <p:sp>
        <p:nvSpPr>
          <p:cNvPr id="11" name="Text 9"/>
          <p:cNvSpPr/>
          <p:nvPr/>
        </p:nvSpPr>
        <p:spPr>
          <a:xfrm>
            <a:off x="6508750" y="4060031"/>
            <a:ext cx="46960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typical miss on a group's target</a:t>
            </a:r>
            <a:endParaRPr lang="en-US" sz="1600" dirty="0"/>
          </a:p>
        </p:txBody>
      </p:sp>
      <p:sp>
        <p:nvSpPr>
          <p:cNvPr id="12" name="Text 10"/>
          <p:cNvSpPr/>
          <p:nvPr/>
        </p:nvSpPr>
        <p:spPr>
          <a:xfrm>
            <a:off x="6508750" y="442069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Pass mark: at most 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E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A 30-SECOND GUIDE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How to read the numbers that follow</a:t>
            </a:r>
            <a:endParaRPr lang="en-US" sz="3600" dirty="0"/>
          </a:p>
        </p:txBody>
      </p:sp>
      <p:sp>
        <p:nvSpPr>
          <p:cNvPr id="4" name="Text 2"/>
          <p:cNvSpPr/>
          <p:nvPr/>
        </p:nvSpPr>
        <p:spPr>
          <a:xfrm>
            <a:off x="812800" y="19861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Each result is a best guess plus a range of plausible values. What matters most: does the range include zero?</a:t>
            </a:r>
            <a:endParaRPr lang="en-US" sz="1600" dirty="0"/>
          </a:p>
        </p:txBody>
      </p:sp>
      <p:sp>
        <p:nvSpPr>
          <p:cNvPr id="5" name="Text 3"/>
          <p:cNvSpPr/>
          <p:nvPr/>
        </p:nvSpPr>
        <p:spPr>
          <a:xfrm>
            <a:off x="812800" y="2626221"/>
            <a:ext cx="206679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3A"/>
                </a:solidFill>
                <a:latin typeface="Domine" pitchFamily="18" charset="0"/>
                <a:ea typeface="Domine" pitchFamily="18" charset="-122"/>
                <a:cs typeface="Domine" pitchFamily="18" charset="-120"/>
              </a:rPr>
              <a:t>+3.4</a:t>
            </a:r>
            <a:endParaRPr lang="en-US" sz="2200" dirty="0"/>
          </a:p>
        </p:txBody>
      </p:sp>
      <p:sp>
        <p:nvSpPr>
          <p:cNvPr id="6" name="Text 4"/>
          <p:cNvSpPr/>
          <p:nvPr/>
        </p:nvSpPr>
        <p:spPr>
          <a:xfrm>
            <a:off x="812800" y="3042741"/>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range 1.7 to 5.4</a:t>
            </a:r>
            <a:endParaRPr lang="en-US" sz="1200" dirty="0"/>
          </a:p>
        </p:txBody>
      </p:sp>
      <p:sp>
        <p:nvSpPr>
          <p:cNvPr id="7" name="Text 5"/>
          <p:cNvSpPr/>
          <p:nvPr/>
        </p:nvSpPr>
        <p:spPr>
          <a:xfrm>
            <a:off x="812800" y="3281462"/>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Public Sans" pitchFamily="34" charset="0"/>
                <a:ea typeface="Public Sans" pitchFamily="34" charset="-122"/>
                <a:cs typeface="Public Sans" pitchFamily="34" charset="-120"/>
              </a:rPr>
              <a:t>Clear difference</a:t>
            </a:r>
            <a:endParaRPr lang="en-US" sz="1200" dirty="0"/>
          </a:p>
        </p:txBody>
      </p:sp>
      <p:sp>
        <p:nvSpPr>
          <p:cNvPr id="8" name="Shape 6"/>
          <p:cNvSpPr/>
          <p:nvPr/>
        </p:nvSpPr>
        <p:spPr>
          <a:xfrm>
            <a:off x="3124200" y="2927152"/>
            <a:ext cx="8255000" cy="12700"/>
          </a:xfrm>
          <a:prstGeom prst="rect">
            <a:avLst/>
          </a:prstGeom>
          <a:solidFill>
            <a:srgbClr val="5E6873"/>
          </a:solidFill>
          <a:ln/>
        </p:spPr>
      </p:sp>
      <p:sp>
        <p:nvSpPr>
          <p:cNvPr id="9" name="Shape 7"/>
          <p:cNvSpPr/>
          <p:nvPr/>
        </p:nvSpPr>
        <p:spPr>
          <a:xfrm>
            <a:off x="7245350" y="2781102"/>
            <a:ext cx="19050" cy="304800"/>
          </a:xfrm>
          <a:prstGeom prst="rect">
            <a:avLst/>
          </a:prstGeom>
          <a:solidFill>
            <a:srgbClr val="1B2A3A"/>
          </a:solidFill>
          <a:ln/>
        </p:spPr>
      </p:sp>
      <p:sp>
        <p:nvSpPr>
          <p:cNvPr id="10" name="Shape 8"/>
          <p:cNvSpPr/>
          <p:nvPr/>
        </p:nvSpPr>
        <p:spPr>
          <a:xfrm>
            <a:off x="8420100" y="2882702"/>
            <a:ext cx="2546350" cy="101600"/>
          </a:xfrm>
          <a:prstGeom prst="roundRect">
            <a:avLst>
              <a:gd name="adj" fmla="val 50000"/>
            </a:avLst>
          </a:prstGeom>
          <a:solidFill>
            <a:srgbClr val="B4501A"/>
          </a:solidFill>
          <a:ln/>
        </p:spPr>
      </p:sp>
      <p:pic>
        <p:nvPicPr>
          <p:cNvPr id="11" name="Image 0" descr="ellipse">    </p:cNvPr>
          <p:cNvPicPr>
            <a:picLocks noChangeAspect="1"/>
          </p:cNvPicPr>
          <p:nvPr/>
        </p:nvPicPr>
        <p:blipFill>
          <a:blip r:embed="rId1"/>
          <a:srcRect l="0" r="0" t="0" b="0"/>
          <a:stretch/>
        </p:blipFill>
        <p:spPr>
          <a:xfrm>
            <a:off x="9486900" y="2831902"/>
            <a:ext cx="203200" cy="203200"/>
          </a:xfrm>
          <a:prstGeom prst="rect">
            <a:avLst/>
          </a:prstGeom>
        </p:spPr>
      </p:pic>
      <p:sp>
        <p:nvSpPr>
          <p:cNvPr id="12" name="Text 9"/>
          <p:cNvSpPr/>
          <p:nvPr/>
        </p:nvSpPr>
        <p:spPr>
          <a:xfrm>
            <a:off x="6972300" y="3124002"/>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0</a:t>
            </a:r>
            <a:endParaRPr lang="en-US" sz="1200" dirty="0"/>
          </a:p>
        </p:txBody>
      </p:sp>
      <p:sp>
        <p:nvSpPr>
          <p:cNvPr id="13" name="Text 10"/>
          <p:cNvSpPr/>
          <p:nvPr/>
        </p:nvSpPr>
        <p:spPr>
          <a:xfrm>
            <a:off x="812800" y="3748782"/>
            <a:ext cx="206679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3A"/>
                </a:solidFill>
                <a:latin typeface="Domine" pitchFamily="18" charset="0"/>
                <a:ea typeface="Domine" pitchFamily="18" charset="-122"/>
                <a:cs typeface="Domine" pitchFamily="18" charset="-120"/>
              </a:rPr>
              <a:t>-0.5</a:t>
            </a:r>
            <a:endParaRPr lang="en-US" sz="2200" dirty="0"/>
          </a:p>
        </p:txBody>
      </p:sp>
      <p:sp>
        <p:nvSpPr>
          <p:cNvPr id="14" name="Text 11"/>
          <p:cNvSpPr/>
          <p:nvPr/>
        </p:nvSpPr>
        <p:spPr>
          <a:xfrm>
            <a:off x="812800" y="4165302"/>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range -2.0 to +0.8</a:t>
            </a:r>
            <a:endParaRPr lang="en-US" sz="1200" dirty="0"/>
          </a:p>
        </p:txBody>
      </p:sp>
      <p:sp>
        <p:nvSpPr>
          <p:cNvPr id="15" name="Text 12"/>
          <p:cNvSpPr/>
          <p:nvPr/>
        </p:nvSpPr>
        <p:spPr>
          <a:xfrm>
            <a:off x="812800" y="4404023"/>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6595"/>
                </a:solidFill>
                <a:latin typeface="Public Sans" pitchFamily="34" charset="0"/>
                <a:ea typeface="Public Sans" pitchFamily="34" charset="-122"/>
                <a:cs typeface="Public Sans" pitchFamily="34" charset="-120"/>
              </a:rPr>
              <a:t>Crosses zero</a:t>
            </a:r>
            <a:endParaRPr lang="en-US" sz="1200" dirty="0"/>
          </a:p>
        </p:txBody>
      </p:sp>
      <p:sp>
        <p:nvSpPr>
          <p:cNvPr id="16" name="Shape 13"/>
          <p:cNvSpPr/>
          <p:nvPr/>
        </p:nvSpPr>
        <p:spPr>
          <a:xfrm>
            <a:off x="3124200" y="4049713"/>
            <a:ext cx="8255000" cy="12700"/>
          </a:xfrm>
          <a:prstGeom prst="rect">
            <a:avLst/>
          </a:prstGeom>
          <a:solidFill>
            <a:srgbClr val="5E6873"/>
          </a:solidFill>
          <a:ln/>
        </p:spPr>
      </p:sp>
      <p:sp>
        <p:nvSpPr>
          <p:cNvPr id="17" name="Shape 14"/>
          <p:cNvSpPr/>
          <p:nvPr/>
        </p:nvSpPr>
        <p:spPr>
          <a:xfrm>
            <a:off x="7245350" y="3903663"/>
            <a:ext cx="19050" cy="304800"/>
          </a:xfrm>
          <a:prstGeom prst="rect">
            <a:avLst/>
          </a:prstGeom>
          <a:solidFill>
            <a:srgbClr val="1B2A3A"/>
          </a:solidFill>
          <a:ln/>
        </p:spPr>
      </p:sp>
      <p:sp>
        <p:nvSpPr>
          <p:cNvPr id="18" name="Shape 15"/>
          <p:cNvSpPr/>
          <p:nvPr/>
        </p:nvSpPr>
        <p:spPr>
          <a:xfrm>
            <a:off x="5873750" y="4005262"/>
            <a:ext cx="1930400" cy="101600"/>
          </a:xfrm>
          <a:prstGeom prst="roundRect">
            <a:avLst>
              <a:gd name="adj" fmla="val 50000"/>
            </a:avLst>
          </a:prstGeom>
          <a:solidFill>
            <a:srgbClr val="2B6595"/>
          </a:solidFill>
          <a:ln/>
        </p:spPr>
      </p:sp>
      <p:pic>
        <p:nvPicPr>
          <p:cNvPr id="19" name="Image 1" descr="ellipse">    </p:cNvPr>
          <p:cNvPicPr>
            <a:picLocks noChangeAspect="1"/>
          </p:cNvPicPr>
          <p:nvPr/>
        </p:nvPicPr>
        <p:blipFill>
          <a:blip r:embed="rId2"/>
          <a:srcRect l="0" r="0" t="0" b="0"/>
          <a:stretch/>
        </p:blipFill>
        <p:spPr>
          <a:xfrm>
            <a:off x="6807200" y="3954463"/>
            <a:ext cx="203200" cy="203200"/>
          </a:xfrm>
          <a:prstGeom prst="rect">
            <a:avLst/>
          </a:prstGeom>
        </p:spPr>
      </p:pic>
      <p:sp>
        <p:nvSpPr>
          <p:cNvPr id="20" name="Text 16"/>
          <p:cNvSpPr/>
          <p:nvPr/>
        </p:nvSpPr>
        <p:spPr>
          <a:xfrm>
            <a:off x="6972300" y="4246563"/>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FINDING 1: THE MAIN QUESTION</a:t>
            </a:r>
            <a:endParaRPr lang="en-US" sz="1200" dirty="0"/>
          </a:p>
        </p:txBody>
      </p:sp>
      <p:sp>
        <p:nvSpPr>
          <p:cNvPr id="3" name="Text 1"/>
          <p:cNvSpPr/>
          <p:nvPr>
            <p:ph type="title"/>
          </p:nvPr>
        </p:nvSpPr>
        <p:spPr>
          <a:xfrm>
            <a:off x="812800" y="1127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Early renewers were in places where care costs more</a:t>
            </a:r>
            <a:endParaRPr lang="en-US" sz="3600" dirty="0"/>
          </a:p>
        </p:txBody>
      </p:sp>
      <p:sp>
        <p:nvSpPr>
          <p:cNvPr id="4" name="Shape 2"/>
          <p:cNvSpPr/>
          <p:nvPr/>
        </p:nvSpPr>
        <p:spPr>
          <a:xfrm>
            <a:off x="822325" y="2498527"/>
            <a:ext cx="3917950" cy="2401491"/>
          </a:xfrm>
          <a:prstGeom prst="roundRect">
            <a:avLst>
              <a:gd name="adj" fmla="val 3834"/>
            </a:avLst>
          </a:prstGeom>
          <a:solidFill>
            <a:srgbClr val="FFFDF9"/>
          </a:solidFill>
          <a:ln w="19050">
            <a:solidFill>
              <a:srgbClr val="B4501A"/>
            </a:solidFill>
            <a:prstDash val="solid"/>
          </a:ln>
        </p:spPr>
      </p:sp>
      <p:sp>
        <p:nvSpPr>
          <p:cNvPr id="5" name="Text 3"/>
          <p:cNvSpPr/>
          <p:nvPr/>
        </p:nvSpPr>
        <p:spPr>
          <a:xfrm>
            <a:off x="1136650" y="2812852"/>
            <a:ext cx="33879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01A"/>
                </a:solidFill>
                <a:latin typeface="Domine" pitchFamily="18" charset="0"/>
                <a:ea typeface="Domine" pitchFamily="18" charset="-122"/>
                <a:cs typeface="Domine" pitchFamily="18" charset="-120"/>
              </a:rPr>
              <a:t>+3.4%</a:t>
            </a:r>
            <a:endParaRPr lang="en-US" sz="6000" dirty="0"/>
          </a:p>
        </p:txBody>
      </p:sp>
      <p:sp>
        <p:nvSpPr>
          <p:cNvPr id="6" name="Text 4"/>
          <p:cNvSpPr/>
          <p:nvPr/>
        </p:nvSpPr>
        <p:spPr>
          <a:xfrm>
            <a:off x="1136650" y="3651052"/>
            <a:ext cx="33879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Public Sans" pitchFamily="34" charset="0"/>
                <a:ea typeface="Public Sans" pitchFamily="34" charset="-122"/>
                <a:cs typeface="Public Sans" pitchFamily="34" charset="-120"/>
              </a:rPr>
              <a:t>of target, vs. stayers</a:t>
            </a:r>
            <a:endParaRPr lang="en-US" sz="1600" dirty="0"/>
          </a:p>
        </p:txBody>
      </p:sp>
      <p:sp>
        <p:nvSpPr>
          <p:cNvPr id="7" name="Text 5"/>
          <p:cNvSpPr/>
          <p:nvPr/>
        </p:nvSpPr>
        <p:spPr>
          <a:xfrm>
            <a:off x="1136650" y="4011712"/>
            <a:ext cx="33879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about </a:t>
            </a:r>
            <a:r>
              <a:rPr lang="en-US" sz="1600" b="1" dirty="0">
                <a:solidFill>
                  <a:srgbClr val="3E4C5A"/>
                </a:solidFill>
                <a:latin typeface="Public Sans" pitchFamily="34" charset="0"/>
                <a:ea typeface="Public Sans" pitchFamily="34" charset="-122"/>
                <a:cs typeface="Public Sans" pitchFamily="34" charset="-120"/>
              </a:rPr>
              <a:t>$385 per patient per year</a:t>
            </a:r>
            <a:endParaRPr lang="en-US" sz="1600" dirty="0"/>
          </a:p>
        </p:txBody>
      </p:sp>
      <p:sp>
        <p:nvSpPr>
          <p:cNvPr id="8" name="Text 6"/>
          <p:cNvSpPr/>
          <p:nvPr/>
        </p:nvSpPr>
        <p:spPr>
          <a:xfrm>
            <a:off x="1136650" y="4372372"/>
            <a:ext cx="33879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Range 1.7% to 5.4%; clear of zero</a:t>
            </a:r>
            <a:endParaRPr lang="en-US" sz="1200" dirty="0"/>
          </a:p>
        </p:txBody>
      </p:sp>
      <p:sp>
        <p:nvSpPr>
          <p:cNvPr id="9" name="Text 7"/>
          <p:cNvSpPr/>
          <p:nvPr/>
        </p:nvSpPr>
        <p:spPr>
          <a:xfrm>
            <a:off x="5156200" y="2961481"/>
            <a:ext cx="6409690"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B2A3A"/>
                </a:solidFill>
                <a:latin typeface="Public Sans" pitchFamily="34" charset="0"/>
                <a:ea typeface="Public Sans" pitchFamily="34" charset="-122"/>
                <a:cs typeface="Public Sans" pitchFamily="34" charset="-120"/>
              </a:rPr>
              <a:t>The gap between local costs and their target was bigger than for stayers.</a:t>
            </a:r>
            <a:endParaRPr lang="en-US" sz="2200" dirty="0"/>
          </a:p>
        </p:txBody>
      </p:sp>
      <p:sp>
        <p:nvSpPr>
          <p:cNvPr id="10" name="Text 8"/>
          <p:cNvSpPr/>
          <p:nvPr/>
        </p:nvSpPr>
        <p:spPr>
          <a:xfrm>
            <a:off x="5156200" y="3868142"/>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 reset pulls the target toward local costs, so on this part alone, early renewers had more to gain.</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Public Sans" pitchFamily="34" charset="0"/>
                <a:ea typeface="Public Sans" pitchFamily="34" charset="-122"/>
                <a:cs typeface="Public Sans" pitchFamily="34" charset="-120"/>
              </a:rPr>
              <a:t>Dollar figure at the typical 2021 target of $11,312 per patient. Source: CMS public files; pre-registered analysis.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FINDING 2</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But they already beat their targets</a:t>
            </a:r>
            <a:endParaRPr lang="en-US" sz="3600" dirty="0"/>
          </a:p>
        </p:txBody>
      </p:sp>
      <p:sp>
        <p:nvSpPr>
          <p:cNvPr id="4" name="Shape 2"/>
          <p:cNvSpPr/>
          <p:nvPr/>
        </p:nvSpPr>
        <p:spPr>
          <a:xfrm>
            <a:off x="815975" y="1989336"/>
            <a:ext cx="6546850" cy="2312591"/>
          </a:xfrm>
          <a:prstGeom prst="roundRect">
            <a:avLst>
              <a:gd name="adj" fmla="val 4256"/>
            </a:avLst>
          </a:prstGeom>
          <a:solidFill>
            <a:srgbClr val="FFFDF9"/>
          </a:solidFill>
          <a:ln w="6350">
            <a:solidFill>
              <a:srgbClr val="E2DDD3"/>
            </a:solidFill>
            <a:prstDash val="solid"/>
          </a:ln>
        </p:spPr>
      </p:sp>
      <p:sp>
        <p:nvSpPr>
          <p:cNvPr id="5" name="Text 3"/>
          <p:cNvSpPr/>
          <p:nvPr/>
        </p:nvSpPr>
        <p:spPr>
          <a:xfrm>
            <a:off x="1123950" y="2297311"/>
            <a:ext cx="61088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Share of target saved, 2020 average</a:t>
            </a:r>
            <a:endParaRPr lang="en-US" sz="1600" dirty="0"/>
          </a:p>
        </p:txBody>
      </p:sp>
      <p:sp>
        <p:nvSpPr>
          <p:cNvPr id="6" name="Text 4"/>
          <p:cNvSpPr/>
          <p:nvPr/>
        </p:nvSpPr>
        <p:spPr>
          <a:xfrm>
            <a:off x="1123950" y="2657971"/>
            <a:ext cx="193020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01A"/>
                </a:solidFill>
                <a:latin typeface="Domine" pitchFamily="18" charset="0"/>
                <a:ea typeface="Domine" pitchFamily="18" charset="-122"/>
                <a:cs typeface="Domine" pitchFamily="18" charset="-120"/>
              </a:rPr>
              <a:t>6.4%</a:t>
            </a:r>
            <a:endParaRPr lang="en-US" sz="6000" dirty="0"/>
          </a:p>
        </p:txBody>
      </p:sp>
      <p:sp>
        <p:nvSpPr>
          <p:cNvPr id="7" name="Text 5"/>
          <p:cNvSpPr/>
          <p:nvPr/>
        </p:nvSpPr>
        <p:spPr>
          <a:xfrm>
            <a:off x="1123950" y="3445371"/>
            <a:ext cx="16762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early renewers</a:t>
            </a:r>
            <a:endParaRPr lang="en-US" sz="1200" dirty="0"/>
          </a:p>
        </p:txBody>
      </p:sp>
      <p:sp>
        <p:nvSpPr>
          <p:cNvPr id="8" name="Text 6"/>
          <p:cNvSpPr/>
          <p:nvPr/>
        </p:nvSpPr>
        <p:spPr>
          <a:xfrm>
            <a:off x="3054152" y="2657971"/>
            <a:ext cx="195048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B6595"/>
                </a:solidFill>
                <a:latin typeface="Domine" pitchFamily="18" charset="0"/>
                <a:ea typeface="Domine" pitchFamily="18" charset="-122"/>
                <a:cs typeface="Domine" pitchFamily="18" charset="-120"/>
              </a:rPr>
              <a:t>4.6%</a:t>
            </a:r>
            <a:endParaRPr lang="en-US" sz="6000" dirty="0"/>
          </a:p>
        </p:txBody>
      </p:sp>
      <p:sp>
        <p:nvSpPr>
          <p:cNvPr id="9" name="Text 7"/>
          <p:cNvSpPr/>
          <p:nvPr/>
        </p:nvSpPr>
        <p:spPr>
          <a:xfrm>
            <a:off x="3054152" y="3445371"/>
            <a:ext cx="16762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stayers</a:t>
            </a:r>
            <a:endParaRPr lang="en-US" sz="1200" dirty="0"/>
          </a:p>
        </p:txBody>
      </p:sp>
      <p:sp>
        <p:nvSpPr>
          <p:cNvPr id="10" name="Shape 8"/>
          <p:cNvSpPr/>
          <p:nvPr/>
        </p:nvSpPr>
        <p:spPr>
          <a:xfrm>
            <a:off x="7572375" y="1989336"/>
            <a:ext cx="3803650" cy="2312591"/>
          </a:xfrm>
          <a:prstGeom prst="roundRect">
            <a:avLst>
              <a:gd name="adj" fmla="val 4256"/>
            </a:avLst>
          </a:prstGeom>
          <a:solidFill>
            <a:srgbClr val="FFFDF9"/>
          </a:solidFill>
          <a:ln w="6350">
            <a:solidFill>
              <a:srgbClr val="E2DDD3"/>
            </a:solidFill>
            <a:prstDash val="solid"/>
          </a:ln>
        </p:spPr>
      </p:sp>
      <p:sp>
        <p:nvSpPr>
          <p:cNvPr id="11" name="Text 9"/>
          <p:cNvSpPr/>
          <p:nvPr/>
        </p:nvSpPr>
        <p:spPr>
          <a:xfrm>
            <a:off x="7880350" y="2297311"/>
            <a:ext cx="328333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Own spending vs. target, compared with stayers</a:t>
            </a:r>
            <a:endParaRPr lang="en-US" sz="1600" dirty="0"/>
          </a:p>
        </p:txBody>
      </p:sp>
      <p:sp>
        <p:nvSpPr>
          <p:cNvPr id="12" name="Text 10"/>
          <p:cNvSpPr/>
          <p:nvPr/>
        </p:nvSpPr>
        <p:spPr>
          <a:xfrm>
            <a:off x="7880350" y="2942431"/>
            <a:ext cx="3283331"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2A3A"/>
                </a:solidFill>
                <a:latin typeface="Domine" pitchFamily="18" charset="0"/>
                <a:ea typeface="Domine" pitchFamily="18" charset="-122"/>
                <a:cs typeface="Domine" pitchFamily="18" charset="-120"/>
              </a:rPr>
              <a:t>-2.1</a:t>
            </a:r>
            <a:endParaRPr lang="en-US" sz="6000" dirty="0"/>
          </a:p>
        </p:txBody>
      </p:sp>
      <p:sp>
        <p:nvSpPr>
          <p:cNvPr id="13" name="Text 11"/>
          <p:cNvSpPr/>
          <p:nvPr/>
        </p:nvSpPr>
        <p:spPr>
          <a:xfrm>
            <a:off x="7880350" y="3780631"/>
            <a:ext cx="32833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points of target; range -3.8 to -0.5</a:t>
            </a:r>
            <a:endParaRPr lang="en-US" sz="1200" dirty="0"/>
          </a:p>
        </p:txBody>
      </p:sp>
      <p:sp>
        <p:nvSpPr>
          <p:cNvPr id="14" name="Text 12"/>
          <p:cNvSpPr/>
          <p:nvPr/>
        </p:nvSpPr>
        <p:spPr>
          <a:xfrm>
            <a:off x="812800" y="4660702"/>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B2A3A"/>
                </a:solidFill>
                <a:latin typeface="Public Sans" pitchFamily="34" charset="0"/>
                <a:ea typeface="Public Sans" pitchFamily="34" charset="-122"/>
                <a:cs typeface="Public Sans" pitchFamily="34" charset="-120"/>
              </a:rPr>
              <a:t>Remember the catch: a reset restarts from your own spending. For strong savers, that part cuts the target.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FINDING 3</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two parts roughly cancel out</a:t>
            </a:r>
            <a:endParaRPr lang="en-US" sz="3600" dirty="0"/>
          </a:p>
        </p:txBody>
      </p:sp>
      <p:sp>
        <p:nvSpPr>
          <p:cNvPr id="4" name="Text 2"/>
          <p:cNvSpPr/>
          <p:nvPr/>
        </p:nvSpPr>
        <p:spPr>
          <a:xfrm>
            <a:off x="812800" y="19353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Early renewers minus stayers, points of target. Bar = best guess; line = range.</a:t>
            </a:r>
            <a:endParaRPr lang="en-US" sz="1600" dirty="0"/>
          </a:p>
        </p:txBody>
      </p:sp>
      <p:sp>
        <p:nvSpPr>
          <p:cNvPr id="5" name="Text 3"/>
          <p:cNvSpPr/>
          <p:nvPr/>
        </p:nvSpPr>
        <p:spPr>
          <a:xfrm>
            <a:off x="812800" y="261094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Regional part</a:t>
            </a:r>
            <a:r>
              <a:rPr lang="en-US" sz="1600" dirty="0">
                <a:solidFill>
                  <a:srgbClr val="1B2A3A"/>
                </a:solidFill>
                <a:latin typeface="Public Sans" pitchFamily="34" charset="0"/>
                <a:ea typeface="Public Sans" pitchFamily="34" charset="-122"/>
                <a:cs typeface="Public Sans" pitchFamily="34" charset="-120"/>
              </a:rPr>
              <a:t> (boost)</a:t>
            </a:r>
            <a:endParaRPr lang="en-US" sz="1600" dirty="0"/>
          </a:p>
        </p:txBody>
      </p:sp>
      <p:sp>
        <p:nvSpPr>
          <p:cNvPr id="6" name="Shape 4"/>
          <p:cNvSpPr/>
          <p:nvPr/>
        </p:nvSpPr>
        <p:spPr>
          <a:xfrm>
            <a:off x="7512050" y="2524621"/>
            <a:ext cx="12700" cy="457200"/>
          </a:xfrm>
          <a:prstGeom prst="rect">
            <a:avLst/>
          </a:prstGeom>
          <a:solidFill>
            <a:srgbClr val="1B2A3A"/>
          </a:solidFill>
          <a:ln/>
        </p:spPr>
      </p:sp>
      <p:sp>
        <p:nvSpPr>
          <p:cNvPr id="7" name="Shape 5"/>
          <p:cNvSpPr/>
          <p:nvPr/>
        </p:nvSpPr>
        <p:spPr>
          <a:xfrm>
            <a:off x="7518400" y="2600821"/>
            <a:ext cx="1308100" cy="304800"/>
          </a:xfrm>
          <a:prstGeom prst="rect">
            <a:avLst/>
          </a:prstGeom>
          <a:solidFill>
            <a:srgbClr val="2B6595"/>
          </a:solidFill>
          <a:ln/>
        </p:spPr>
      </p:sp>
      <p:sp>
        <p:nvSpPr>
          <p:cNvPr id="8" name="Shape 6"/>
          <p:cNvSpPr/>
          <p:nvPr/>
        </p:nvSpPr>
        <p:spPr>
          <a:xfrm>
            <a:off x="8255000" y="2740521"/>
            <a:ext cx="1060450" cy="25400"/>
          </a:xfrm>
          <a:prstGeom prst="rect">
            <a:avLst/>
          </a:prstGeom>
          <a:solidFill>
            <a:srgbClr val="1B2A3A"/>
          </a:solidFill>
          <a:ln/>
        </p:spPr>
      </p:sp>
      <p:sp>
        <p:nvSpPr>
          <p:cNvPr id="9" name="Text 7"/>
          <p:cNvSpPr/>
          <p:nvPr/>
        </p:nvSpPr>
        <p:spPr>
          <a:xfrm>
            <a:off x="10109200" y="2610941"/>
            <a:ext cx="1320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B6595"/>
                </a:solidFill>
                <a:latin typeface="Public Sans" pitchFamily="34" charset="0"/>
                <a:ea typeface="Public Sans" pitchFamily="34" charset="-122"/>
                <a:cs typeface="Public Sans" pitchFamily="34" charset="-120"/>
              </a:rPr>
              <a:t>+1.6</a:t>
            </a:r>
            <a:endParaRPr lang="en-US" sz="1600" dirty="0"/>
          </a:p>
        </p:txBody>
      </p:sp>
      <p:sp>
        <p:nvSpPr>
          <p:cNvPr id="10" name="Text 8"/>
          <p:cNvSpPr/>
          <p:nvPr/>
        </p:nvSpPr>
        <p:spPr>
          <a:xfrm>
            <a:off x="812800" y="322054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Own spending</a:t>
            </a:r>
            <a:r>
              <a:rPr lang="en-US" sz="1600" dirty="0">
                <a:solidFill>
                  <a:srgbClr val="1B2A3A"/>
                </a:solidFill>
                <a:latin typeface="Public Sans" pitchFamily="34" charset="0"/>
                <a:ea typeface="Public Sans" pitchFamily="34" charset="-122"/>
                <a:cs typeface="Public Sans" pitchFamily="34" charset="-120"/>
              </a:rPr>
              <a:t> (catch)</a:t>
            </a:r>
            <a:endParaRPr lang="en-US" sz="1600" dirty="0"/>
          </a:p>
        </p:txBody>
      </p:sp>
      <p:sp>
        <p:nvSpPr>
          <p:cNvPr id="11" name="Shape 9"/>
          <p:cNvSpPr/>
          <p:nvPr/>
        </p:nvSpPr>
        <p:spPr>
          <a:xfrm>
            <a:off x="7512050" y="3134221"/>
            <a:ext cx="12700" cy="457200"/>
          </a:xfrm>
          <a:prstGeom prst="rect">
            <a:avLst/>
          </a:prstGeom>
          <a:solidFill>
            <a:srgbClr val="1B2A3A"/>
          </a:solidFill>
          <a:ln/>
        </p:spPr>
      </p:sp>
      <p:sp>
        <p:nvSpPr>
          <p:cNvPr id="12" name="Shape 10"/>
          <p:cNvSpPr/>
          <p:nvPr/>
        </p:nvSpPr>
        <p:spPr>
          <a:xfrm>
            <a:off x="5803900" y="3210421"/>
            <a:ext cx="1714500" cy="304800"/>
          </a:xfrm>
          <a:prstGeom prst="rect">
            <a:avLst/>
          </a:prstGeom>
          <a:solidFill>
            <a:srgbClr val="B4501A"/>
          </a:solidFill>
          <a:ln/>
        </p:spPr>
      </p:sp>
      <p:sp>
        <p:nvSpPr>
          <p:cNvPr id="13" name="Shape 11"/>
          <p:cNvSpPr/>
          <p:nvPr/>
        </p:nvSpPr>
        <p:spPr>
          <a:xfrm>
            <a:off x="4413250" y="3350121"/>
            <a:ext cx="2692400" cy="25400"/>
          </a:xfrm>
          <a:prstGeom prst="rect">
            <a:avLst/>
          </a:prstGeom>
          <a:solidFill>
            <a:srgbClr val="1B2A3A"/>
          </a:solidFill>
          <a:ln/>
        </p:spPr>
      </p:sp>
      <p:sp>
        <p:nvSpPr>
          <p:cNvPr id="14" name="Text 12"/>
          <p:cNvSpPr/>
          <p:nvPr/>
        </p:nvSpPr>
        <p:spPr>
          <a:xfrm>
            <a:off x="10109200" y="3220541"/>
            <a:ext cx="1320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01A"/>
                </a:solidFill>
                <a:latin typeface="Public Sans" pitchFamily="34" charset="0"/>
                <a:ea typeface="Public Sans" pitchFamily="34" charset="-122"/>
                <a:cs typeface="Public Sans" pitchFamily="34" charset="-120"/>
              </a:rPr>
              <a:t>-2.1</a:t>
            </a:r>
            <a:endParaRPr lang="en-US" sz="1600" dirty="0"/>
          </a:p>
        </p:txBody>
      </p:sp>
      <p:sp>
        <p:nvSpPr>
          <p:cNvPr id="15" name="Text 13"/>
          <p:cNvSpPr/>
          <p:nvPr/>
        </p:nvSpPr>
        <p:spPr>
          <a:xfrm>
            <a:off x="812800" y="383014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Total</a:t>
            </a:r>
            <a:r>
              <a:rPr lang="en-US" sz="1600" dirty="0">
                <a:solidFill>
                  <a:srgbClr val="1B2A3A"/>
                </a:solidFill>
                <a:latin typeface="Public Sans" pitchFamily="34" charset="0"/>
                <a:ea typeface="Public Sans" pitchFamily="34" charset="-122"/>
                <a:cs typeface="Public Sans" pitchFamily="34" charset="-120"/>
              </a:rPr>
              <a:t> (crosses zero)</a:t>
            </a:r>
            <a:endParaRPr lang="en-US" sz="1600" dirty="0"/>
          </a:p>
        </p:txBody>
      </p:sp>
      <p:sp>
        <p:nvSpPr>
          <p:cNvPr id="16" name="Shape 14"/>
          <p:cNvSpPr/>
          <p:nvPr/>
        </p:nvSpPr>
        <p:spPr>
          <a:xfrm>
            <a:off x="7512050" y="3743821"/>
            <a:ext cx="12700" cy="457200"/>
          </a:xfrm>
          <a:prstGeom prst="rect">
            <a:avLst/>
          </a:prstGeom>
          <a:solidFill>
            <a:srgbClr val="1B2A3A"/>
          </a:solidFill>
          <a:ln/>
        </p:spPr>
      </p:sp>
      <p:sp>
        <p:nvSpPr>
          <p:cNvPr id="17" name="Shape 15"/>
          <p:cNvSpPr/>
          <p:nvPr/>
        </p:nvSpPr>
        <p:spPr>
          <a:xfrm>
            <a:off x="7112000" y="3820021"/>
            <a:ext cx="406400" cy="304800"/>
          </a:xfrm>
          <a:prstGeom prst="rect">
            <a:avLst/>
          </a:prstGeom>
          <a:solidFill>
            <a:srgbClr val="5E6873"/>
          </a:solidFill>
          <a:ln/>
        </p:spPr>
      </p:sp>
      <p:sp>
        <p:nvSpPr>
          <p:cNvPr id="18" name="Shape 16"/>
          <p:cNvSpPr/>
          <p:nvPr/>
        </p:nvSpPr>
        <p:spPr>
          <a:xfrm>
            <a:off x="5886450" y="3959721"/>
            <a:ext cx="2286000" cy="25400"/>
          </a:xfrm>
          <a:prstGeom prst="rect">
            <a:avLst/>
          </a:prstGeom>
          <a:solidFill>
            <a:srgbClr val="1B2A3A"/>
          </a:solidFill>
          <a:ln/>
        </p:spPr>
      </p:sp>
      <p:sp>
        <p:nvSpPr>
          <p:cNvPr id="19" name="Text 17"/>
          <p:cNvSpPr/>
          <p:nvPr/>
        </p:nvSpPr>
        <p:spPr>
          <a:xfrm>
            <a:off x="10109200" y="3830141"/>
            <a:ext cx="1320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-0.5</a:t>
            </a:r>
            <a:endParaRPr lang="en-US" sz="1600" dirty="0"/>
          </a:p>
        </p:txBody>
      </p:sp>
      <p:sp>
        <p:nvSpPr>
          <p:cNvPr id="20" name="Shape 18"/>
          <p:cNvSpPr/>
          <p:nvPr/>
        </p:nvSpPr>
        <p:spPr>
          <a:xfrm>
            <a:off x="812800" y="4505821"/>
            <a:ext cx="10566400" cy="975320"/>
          </a:xfrm>
          <a:prstGeom prst="roundRect">
            <a:avLst>
              <a:gd name="adj" fmla="val 10417"/>
            </a:avLst>
          </a:prstGeom>
          <a:solidFill>
            <a:srgbClr val="E9EEF1"/>
          </a:solidFill>
          <a:ln/>
        </p:spPr>
      </p:sp>
      <p:pic>
        <p:nvPicPr>
          <p:cNvPr id="21" name="Image 0" descr="CheckCircle">    </p:cNvPr>
          <p:cNvPicPr>
            <a:picLocks noChangeAspect="1"/>
          </p:cNvPicPr>
          <p:nvPr/>
        </p:nvPicPr>
        <p:blipFill>
          <a:blip r:embed="rId1"/>
          <a:srcRect l="-18" r="-18" t="0" b="0"/>
          <a:stretch/>
        </p:blipFill>
        <p:spPr>
          <a:xfrm>
            <a:off x="1066800" y="4815681"/>
            <a:ext cx="273149" cy="355600"/>
          </a:xfrm>
          <a:prstGeom prst="rect">
            <a:avLst/>
          </a:prstGeom>
        </p:spPr>
      </p:pic>
      <p:sp>
        <p:nvSpPr>
          <p:cNvPr id="22" name="Text 19"/>
          <p:cNvSpPr/>
          <p:nvPr/>
        </p:nvSpPr>
        <p:spPr>
          <a:xfrm>
            <a:off x="1492349" y="4709021"/>
            <a:ext cx="992183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Public Sans" pitchFamily="34" charset="0"/>
                <a:ea typeface="Public Sans" pitchFamily="34" charset="-122"/>
                <a:cs typeface="Public Sans" pitchFamily="34" charset="-120"/>
              </a:rPr>
              <a:t>Checked afterward against Medicare's real 2022 targets:</a:t>
            </a:r>
            <a:r>
              <a:rPr lang="en-US" sz="1600" dirty="0">
                <a:solidFill>
                  <a:srgbClr val="1B2A3A"/>
                </a:solidFill>
                <a:latin typeface="Public Sans" pitchFamily="34" charset="0"/>
                <a:ea typeface="Public Sans" pitchFamily="34" charset="-122"/>
                <a:cs typeface="Public Sans" pitchFamily="34" charset="-120"/>
              </a:rPr>
              <a:t> early renewers' new targets came in 1.3% below their old ones, on average.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FINDING 4</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Nearly all of them moved to the bigger share</a:t>
            </a:r>
            <a:endParaRPr lang="en-US" sz="3600" dirty="0"/>
          </a:p>
        </p:txBody>
      </p:sp>
      <p:sp>
        <p:nvSpPr>
          <p:cNvPr id="4" name="Shape 2"/>
          <p:cNvSpPr/>
          <p:nvPr/>
        </p:nvSpPr>
        <p:spPr>
          <a:xfrm>
            <a:off x="815975" y="1989336"/>
            <a:ext cx="5175250" cy="2023070"/>
          </a:xfrm>
          <a:prstGeom prst="roundRect">
            <a:avLst>
              <a:gd name="adj" fmla="val 4865"/>
            </a:avLst>
          </a:prstGeom>
          <a:solidFill>
            <a:srgbClr val="FFFDF9"/>
          </a:solidFill>
          <a:ln w="6350">
            <a:solidFill>
              <a:srgbClr val="E2DDD3"/>
            </a:solidFill>
            <a:prstDash val="solid"/>
          </a:ln>
        </p:spPr>
      </p:sp>
      <p:sp>
        <p:nvSpPr>
          <p:cNvPr id="5" name="Text 3"/>
          <p:cNvSpPr/>
          <p:nvPr/>
        </p:nvSpPr>
        <p:spPr>
          <a:xfrm>
            <a:off x="1123950" y="2297311"/>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01A"/>
                </a:solidFill>
                <a:latin typeface="Domine" pitchFamily="18" charset="0"/>
                <a:ea typeface="Domine" pitchFamily="18" charset="-122"/>
                <a:cs typeface="Domine" pitchFamily="18" charset="-120"/>
              </a:rPr>
              <a:t>26 of 27</a:t>
            </a:r>
            <a:endParaRPr lang="en-US" sz="6000" dirty="0"/>
          </a:p>
        </p:txBody>
      </p:sp>
      <p:sp>
        <p:nvSpPr>
          <p:cNvPr id="6" name="Text 4"/>
          <p:cNvSpPr/>
          <p:nvPr/>
        </p:nvSpPr>
        <p:spPr>
          <a:xfrm>
            <a:off x="1123950" y="313551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early renewers on the BASIC track moved up to the 75% track</a:t>
            </a:r>
            <a:endParaRPr lang="en-US" sz="1600" dirty="0"/>
          </a:p>
        </p:txBody>
      </p:sp>
      <p:sp>
        <p:nvSpPr>
          <p:cNvPr id="7" name="Shape 5"/>
          <p:cNvSpPr/>
          <p:nvPr/>
        </p:nvSpPr>
        <p:spPr>
          <a:xfrm>
            <a:off x="6200775" y="1989336"/>
            <a:ext cx="5175250" cy="2023070"/>
          </a:xfrm>
          <a:prstGeom prst="roundRect">
            <a:avLst>
              <a:gd name="adj" fmla="val 4865"/>
            </a:avLst>
          </a:prstGeom>
          <a:solidFill>
            <a:srgbClr val="FFFDF9"/>
          </a:solidFill>
          <a:ln w="6350">
            <a:solidFill>
              <a:srgbClr val="E2DDD3"/>
            </a:solidFill>
            <a:prstDash val="solid"/>
          </a:ln>
        </p:spPr>
      </p:sp>
      <p:sp>
        <p:nvSpPr>
          <p:cNvPr id="8" name="Text 6"/>
          <p:cNvSpPr/>
          <p:nvPr/>
        </p:nvSpPr>
        <p:spPr>
          <a:xfrm>
            <a:off x="6508750" y="2297311"/>
            <a:ext cx="4696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501A"/>
                </a:solidFill>
                <a:latin typeface="Domine" pitchFamily="18" charset="0"/>
                <a:ea typeface="Domine" pitchFamily="18" charset="-122"/>
                <a:cs typeface="Domine" pitchFamily="18" charset="-120"/>
              </a:rPr>
              <a:t>16 of 27</a:t>
            </a:r>
            <a:endParaRPr lang="en-US" sz="6000" dirty="0"/>
          </a:p>
        </p:txBody>
      </p:sp>
      <p:sp>
        <p:nvSpPr>
          <p:cNvPr id="9" name="Text 7"/>
          <p:cNvSpPr/>
          <p:nvPr/>
        </p:nvSpPr>
        <p:spPr>
          <a:xfrm>
            <a:off x="6508750" y="313551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were already at BASIC's top level, one short step from the 75% track</a:t>
            </a:r>
            <a:endParaRPr lang="en-US" sz="1600" dirty="0"/>
          </a:p>
        </p:txBody>
      </p:sp>
      <p:sp>
        <p:nvSpPr>
          <p:cNvPr id="10" name="Text 8"/>
          <p:cNvSpPr/>
          <p:nvPr/>
        </p:nvSpPr>
        <p:spPr>
          <a:xfrm>
            <a:off x="812800" y="437118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Groups at BASIC's higher levels were much more likely to renew early. With only 24 groups in that model, the exact size is probably overstated; the direction is the finding.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FINDING 5</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Spending afterward looked about the same</a:t>
            </a:r>
            <a:endParaRPr lang="en-US" sz="3600" dirty="0"/>
          </a:p>
        </p:txBody>
      </p:sp>
      <p:sp>
        <p:nvSpPr>
          <p:cNvPr id="4" name="Text 2"/>
          <p:cNvSpPr/>
          <p:nvPr/>
        </p:nvSpPr>
        <p:spPr>
          <a:xfrm>
            <a:off x="812800" y="19861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Change in spending growth, 2022-2024, early renewers vs. groups that hadn't yet renewed:</a:t>
            </a:r>
            <a:endParaRPr lang="en-US" sz="1600" dirty="0"/>
          </a:p>
        </p:txBody>
      </p:sp>
      <p:sp>
        <p:nvSpPr>
          <p:cNvPr id="5" name="Text 3"/>
          <p:cNvSpPr/>
          <p:nvPr/>
        </p:nvSpPr>
        <p:spPr>
          <a:xfrm>
            <a:off x="812800" y="2626221"/>
            <a:ext cx="2066798"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2A3A"/>
                </a:solidFill>
                <a:latin typeface="Domine" pitchFamily="18" charset="0"/>
                <a:ea typeface="Domine" pitchFamily="18" charset="-122"/>
                <a:cs typeface="Domine" pitchFamily="18" charset="-120"/>
              </a:rPr>
              <a:t>-0.4%</a:t>
            </a:r>
            <a:endParaRPr lang="en-US" sz="3600" dirty="0"/>
          </a:p>
        </p:txBody>
      </p:sp>
      <p:sp>
        <p:nvSpPr>
          <p:cNvPr id="6" name="Text 4"/>
          <p:cNvSpPr/>
          <p:nvPr/>
        </p:nvSpPr>
        <p:spPr>
          <a:xfrm>
            <a:off x="812800" y="3154462"/>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range -4.0% to +2.5%</a:t>
            </a:r>
            <a:endParaRPr lang="en-US" sz="1200" dirty="0"/>
          </a:p>
        </p:txBody>
      </p:sp>
      <p:sp>
        <p:nvSpPr>
          <p:cNvPr id="7" name="Shape 5"/>
          <p:cNvSpPr/>
          <p:nvPr/>
        </p:nvSpPr>
        <p:spPr>
          <a:xfrm>
            <a:off x="3124200" y="2863652"/>
            <a:ext cx="8255000" cy="12700"/>
          </a:xfrm>
          <a:prstGeom prst="rect">
            <a:avLst/>
          </a:prstGeom>
          <a:solidFill>
            <a:srgbClr val="5E6873"/>
          </a:solidFill>
          <a:ln/>
        </p:spPr>
      </p:sp>
      <p:sp>
        <p:nvSpPr>
          <p:cNvPr id="8" name="Shape 6"/>
          <p:cNvSpPr/>
          <p:nvPr/>
        </p:nvSpPr>
        <p:spPr>
          <a:xfrm>
            <a:off x="7245350" y="2717602"/>
            <a:ext cx="19050" cy="304800"/>
          </a:xfrm>
          <a:prstGeom prst="rect">
            <a:avLst/>
          </a:prstGeom>
          <a:solidFill>
            <a:srgbClr val="1B2A3A"/>
          </a:solidFill>
          <a:ln/>
        </p:spPr>
      </p:sp>
      <p:sp>
        <p:nvSpPr>
          <p:cNvPr id="9" name="Shape 7"/>
          <p:cNvSpPr/>
          <p:nvPr/>
        </p:nvSpPr>
        <p:spPr>
          <a:xfrm>
            <a:off x="4502150" y="2819202"/>
            <a:ext cx="4470400" cy="101600"/>
          </a:xfrm>
          <a:prstGeom prst="roundRect">
            <a:avLst>
              <a:gd name="adj" fmla="val 50000"/>
            </a:avLst>
          </a:prstGeom>
          <a:solidFill>
            <a:srgbClr val="2B6595"/>
          </a:solidFill>
          <a:ln/>
        </p:spPr>
      </p:sp>
      <p:pic>
        <p:nvPicPr>
          <p:cNvPr id="10" name="Image 0" descr="ellipse">    </p:cNvPr>
          <p:cNvPicPr>
            <a:picLocks noChangeAspect="1"/>
          </p:cNvPicPr>
          <p:nvPr/>
        </p:nvPicPr>
        <p:blipFill>
          <a:blip r:embed="rId1"/>
          <a:srcRect l="0" r="0" t="0" b="0"/>
          <a:stretch/>
        </p:blipFill>
        <p:spPr>
          <a:xfrm>
            <a:off x="6877050" y="2768402"/>
            <a:ext cx="203200" cy="203200"/>
          </a:xfrm>
          <a:prstGeom prst="rect">
            <a:avLst/>
          </a:prstGeom>
        </p:spPr>
      </p:pic>
      <p:sp>
        <p:nvSpPr>
          <p:cNvPr id="11" name="Text 8"/>
          <p:cNvSpPr/>
          <p:nvPr/>
        </p:nvSpPr>
        <p:spPr>
          <a:xfrm>
            <a:off x="4159250" y="3060502"/>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-4%</a:t>
            </a:r>
            <a:endParaRPr lang="en-US" sz="1200" dirty="0"/>
          </a:p>
        </p:txBody>
      </p:sp>
      <p:sp>
        <p:nvSpPr>
          <p:cNvPr id="12" name="Text 9"/>
          <p:cNvSpPr/>
          <p:nvPr/>
        </p:nvSpPr>
        <p:spPr>
          <a:xfrm>
            <a:off x="6972300" y="3060502"/>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0</a:t>
            </a:r>
            <a:endParaRPr lang="en-US" sz="1200" dirty="0"/>
          </a:p>
        </p:txBody>
      </p:sp>
      <p:sp>
        <p:nvSpPr>
          <p:cNvPr id="13" name="Text 10"/>
          <p:cNvSpPr/>
          <p:nvPr/>
        </p:nvSpPr>
        <p:spPr>
          <a:xfrm>
            <a:off x="8566150" y="3060502"/>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C5A"/>
                </a:solidFill>
                <a:latin typeface="Public Sans" pitchFamily="34" charset="0"/>
                <a:ea typeface="Public Sans" pitchFamily="34" charset="-122"/>
                <a:cs typeface="Public Sans" pitchFamily="34" charset="-120"/>
              </a:rPr>
              <a:t>+2.5%</a:t>
            </a:r>
            <a:endParaRPr lang="en-US" sz="1200" dirty="0"/>
          </a:p>
        </p:txBody>
      </p:sp>
      <p:sp>
        <p:nvSpPr>
          <p:cNvPr id="14" name="Shape 11"/>
          <p:cNvSpPr/>
          <p:nvPr/>
        </p:nvSpPr>
        <p:spPr>
          <a:xfrm>
            <a:off x="815975" y="3726557"/>
            <a:ext cx="5175250" cy="1403251"/>
          </a:xfrm>
          <a:prstGeom prst="roundRect">
            <a:avLst>
              <a:gd name="adj" fmla="val 7014"/>
            </a:avLst>
          </a:prstGeom>
          <a:solidFill>
            <a:srgbClr val="FFFDF9"/>
          </a:solidFill>
          <a:ln w="6350">
            <a:solidFill>
              <a:srgbClr val="E2DDD3"/>
            </a:solidFill>
            <a:prstDash val="solid"/>
          </a:ln>
        </p:spPr>
      </p:sp>
      <p:sp>
        <p:nvSpPr>
          <p:cNvPr id="15" name="Text 12"/>
          <p:cNvSpPr/>
          <p:nvPr/>
        </p:nvSpPr>
        <p:spPr>
          <a:xfrm>
            <a:off x="1073150" y="398373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What it rules out</a:t>
            </a:r>
            <a:endParaRPr lang="en-US" sz="1600" dirty="0"/>
          </a:p>
        </p:txBody>
      </p:sp>
      <p:sp>
        <p:nvSpPr>
          <p:cNvPr id="16" name="Text 13"/>
          <p:cNvSpPr/>
          <p:nvPr/>
        </p:nvSpPr>
        <p:spPr>
          <a:xfrm>
            <a:off x="1073150" y="4303713"/>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 drop of more than about 4%, or a rise of more than about 2.5%.</a:t>
            </a:r>
            <a:endParaRPr lang="en-US" sz="1600" dirty="0"/>
          </a:p>
        </p:txBody>
      </p:sp>
      <p:sp>
        <p:nvSpPr>
          <p:cNvPr id="17" name="Shape 14"/>
          <p:cNvSpPr/>
          <p:nvPr/>
        </p:nvSpPr>
        <p:spPr>
          <a:xfrm>
            <a:off x="6200775" y="3726557"/>
            <a:ext cx="5175250" cy="1403251"/>
          </a:xfrm>
          <a:prstGeom prst="roundRect">
            <a:avLst>
              <a:gd name="adj" fmla="val 7014"/>
            </a:avLst>
          </a:prstGeom>
          <a:solidFill>
            <a:srgbClr val="FFFDF9"/>
          </a:solidFill>
          <a:ln w="6350">
            <a:solidFill>
              <a:srgbClr val="E2DDD3"/>
            </a:solidFill>
            <a:prstDash val="solid"/>
          </a:ln>
        </p:spPr>
      </p:sp>
      <p:sp>
        <p:nvSpPr>
          <p:cNvPr id="18" name="Text 15"/>
          <p:cNvSpPr/>
          <p:nvPr/>
        </p:nvSpPr>
        <p:spPr>
          <a:xfrm>
            <a:off x="6457950" y="398373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Why it's not "no effect"</a:t>
            </a:r>
            <a:endParaRPr lang="en-US" sz="1600" dirty="0"/>
          </a:p>
        </p:txBody>
      </p:sp>
      <p:sp>
        <p:nvSpPr>
          <p:cNvPr id="19" name="Text 16"/>
          <p:cNvSpPr/>
          <p:nvPr/>
        </p:nvSpPr>
        <p:spPr>
          <a:xfrm>
            <a:off x="6457950" y="4303713"/>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A trend that began before renewing could hide a smaller effect.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WHAT IT MEANS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What this study can and cannot say</a:t>
            </a:r>
            <a:endParaRPr lang="en-US" sz="3600" dirty="0"/>
          </a:p>
        </p:txBody>
      </p:sp>
      <p:sp>
        <p:nvSpPr>
          <p:cNvPr id="4" name="Shape 2"/>
          <p:cNvSpPr/>
          <p:nvPr/>
        </p:nvSpPr>
        <p:spPr>
          <a:xfrm>
            <a:off x="812800" y="1986161"/>
            <a:ext cx="5181600" cy="2697460"/>
          </a:xfrm>
          <a:prstGeom prst="roundRect">
            <a:avLst>
              <a:gd name="adj" fmla="val 3767"/>
            </a:avLst>
          </a:prstGeom>
          <a:solidFill>
            <a:srgbClr val="FFFDF9"/>
          </a:solidFill>
          <a:ln/>
        </p:spPr>
      </p:sp>
      <p:sp>
        <p:nvSpPr>
          <p:cNvPr id="5" name="Shape 3"/>
          <p:cNvSpPr/>
          <p:nvPr/>
        </p:nvSpPr>
        <p:spPr>
          <a:xfrm>
            <a:off x="812800" y="1986161"/>
            <a:ext cx="5181600" cy="2697460"/>
          </a:xfrm>
          <a:custGeom>
            <a:avLst/>
            <a:gdLst/>
            <a:ahLst/>
            <a:cxnLst/>
            <a:rect l="l" t="t" r="r" b="b"/>
            <a:pathLst>
              <a:path w="5181600" h="2697460">
                <a:moveTo>
                  <a:pt x="0" y="101600"/>
                </a:moveTo>
                <a:lnTo>
                  <a:pt x="0" y="101600"/>
                </a:lnTo>
                <a:arcTo hR="101600" wR="101600" stAng="10800000" swAng="5400000"/>
                <a:lnTo>
                  <a:pt x="5080000" y="0"/>
                </a:lnTo>
                <a:arcTo hR="101600" wR="101600" stAng="16200000" swAng="5400000"/>
                <a:lnTo>
                  <a:pt x="5181600" y="101600"/>
                </a:lnTo>
                <a:arcTo hR="25400" wR="101600" stAng="0" swAng="-5400000"/>
                <a:lnTo>
                  <a:pt x="101600" y="76200"/>
                </a:lnTo>
                <a:arcTo hR="25400" wR="101600" stAng="16200000" swAng="-5400000"/>
                <a:close/>
              </a:path>
            </a:pathLst>
          </a:custGeom>
          <a:solidFill>
            <a:srgbClr val="2B6595"/>
          </a:solidFill>
          <a:ln/>
        </p:spPr>
      </p:sp>
      <p:sp>
        <p:nvSpPr>
          <p:cNvPr id="6" name="Text 4"/>
          <p:cNvSpPr/>
          <p:nvPr/>
        </p:nvSpPr>
        <p:spPr>
          <a:xfrm>
            <a:off x="1117600" y="2367161"/>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6595"/>
                </a:solidFill>
                <a:latin typeface="Domine" pitchFamily="18" charset="0"/>
                <a:ea typeface="Domine" pitchFamily="18" charset="-122"/>
                <a:cs typeface="Domine" pitchFamily="18" charset="-120"/>
              </a:rPr>
              <a:t>Can say</a:t>
            </a:r>
            <a:endParaRPr lang="en-US" sz="2200" dirty="0"/>
          </a:p>
        </p:txBody>
      </p:sp>
      <p:sp>
        <p:nvSpPr>
          <p:cNvPr id="7" name="Text 5"/>
          <p:cNvSpPr/>
          <p:nvPr/>
        </p:nvSpPr>
        <p:spPr>
          <a:xfrm>
            <a:off x="1187958" y="2854821"/>
            <a:ext cx="4631182" cy="1549400"/>
          </a:xfrm>
          <a:prstGeom prst="rect">
            <a:avLst/>
          </a:prstGeom>
          <a:noFill/>
          <a:ln/>
        </p:spPr>
        <p:txBody>
          <a:bodyPr wrap="square" lIns="0" tIns="0" rIns="0" bIns="0" rtlCol="0" anchor="t">
            <a:normAutofit/>
          </a:bodyPr>
          <a:lstStyle/>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Which groups chose to reset early</a:t>
            </a:r>
            <a:endParaRPr lang="en-US" sz="1600" dirty="0"/>
          </a:p>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What a reset stood to do to their targets, on average</a:t>
            </a:r>
            <a:endParaRPr lang="en-US" sz="1600" dirty="0"/>
          </a:p>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Spending didn't shift by more than a few percent</a:t>
            </a:r>
            <a:endParaRPr lang="en-US" sz="1600" dirty="0"/>
          </a:p>
        </p:txBody>
      </p:sp>
      <p:sp>
        <p:nvSpPr>
          <p:cNvPr id="8" name="Shape 6"/>
          <p:cNvSpPr/>
          <p:nvPr/>
        </p:nvSpPr>
        <p:spPr>
          <a:xfrm>
            <a:off x="6197600" y="1986161"/>
            <a:ext cx="5181600" cy="2697460"/>
          </a:xfrm>
          <a:prstGeom prst="roundRect">
            <a:avLst>
              <a:gd name="adj" fmla="val 3767"/>
            </a:avLst>
          </a:prstGeom>
          <a:solidFill>
            <a:srgbClr val="FFFDF9"/>
          </a:solidFill>
          <a:ln/>
        </p:spPr>
      </p:sp>
      <p:sp>
        <p:nvSpPr>
          <p:cNvPr id="9" name="Shape 7"/>
          <p:cNvSpPr/>
          <p:nvPr/>
        </p:nvSpPr>
        <p:spPr>
          <a:xfrm>
            <a:off x="6197600" y="1986161"/>
            <a:ext cx="5181600" cy="2697460"/>
          </a:xfrm>
          <a:custGeom>
            <a:avLst/>
            <a:gdLst/>
            <a:ahLst/>
            <a:cxnLst/>
            <a:rect l="l" t="t" r="r" b="b"/>
            <a:pathLst>
              <a:path w="5181600" h="2697460">
                <a:moveTo>
                  <a:pt x="0" y="101600"/>
                </a:moveTo>
                <a:lnTo>
                  <a:pt x="0" y="101600"/>
                </a:lnTo>
                <a:arcTo hR="101600" wR="101600" stAng="10800000" swAng="5400000"/>
                <a:lnTo>
                  <a:pt x="5080000" y="0"/>
                </a:lnTo>
                <a:arcTo hR="101600" wR="101600" stAng="16200000" swAng="5400000"/>
                <a:lnTo>
                  <a:pt x="5181600" y="101600"/>
                </a:lnTo>
                <a:arcTo hR="25400" wR="101600" stAng="0" swAng="-5400000"/>
                <a:lnTo>
                  <a:pt x="101600" y="76200"/>
                </a:lnTo>
                <a:arcTo hR="25400" wR="101600" stAng="16200000" swAng="-5400000"/>
                <a:close/>
              </a:path>
            </a:pathLst>
          </a:custGeom>
          <a:solidFill>
            <a:srgbClr val="B4501A"/>
          </a:solidFill>
          <a:ln/>
        </p:spPr>
      </p:sp>
      <p:sp>
        <p:nvSpPr>
          <p:cNvPr id="10" name="Text 8"/>
          <p:cNvSpPr/>
          <p:nvPr/>
        </p:nvSpPr>
        <p:spPr>
          <a:xfrm>
            <a:off x="6502400" y="2367161"/>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4501A"/>
                </a:solidFill>
                <a:latin typeface="Domine" pitchFamily="18" charset="0"/>
                <a:ea typeface="Domine" pitchFamily="18" charset="-122"/>
                <a:cs typeface="Domine" pitchFamily="18" charset="-120"/>
              </a:rPr>
              <a:t>Cannot say</a:t>
            </a:r>
            <a:endParaRPr lang="en-US" sz="2200" dirty="0"/>
          </a:p>
        </p:txBody>
      </p:sp>
      <p:sp>
        <p:nvSpPr>
          <p:cNvPr id="11" name="Text 9"/>
          <p:cNvSpPr/>
          <p:nvPr/>
        </p:nvSpPr>
        <p:spPr>
          <a:xfrm>
            <a:off x="6572758" y="2854821"/>
            <a:ext cx="4631182" cy="939800"/>
          </a:xfrm>
          <a:prstGeom prst="rect">
            <a:avLst/>
          </a:prstGeom>
          <a:noFill/>
          <a:ln/>
        </p:spPr>
        <p:txBody>
          <a:bodyPr wrap="square" lIns="0" tIns="0" rIns="0" bIns="0" rtlCol="0" anchor="t">
            <a:normAutofit/>
          </a:bodyPr>
          <a:lstStyle/>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That renewing caused anything</a:t>
            </a:r>
            <a:endParaRPr lang="en-US" sz="1600" dirty="0"/>
          </a:p>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Which reason was "the" reason</a:t>
            </a:r>
            <a:endParaRPr lang="en-US" sz="1600" dirty="0"/>
          </a:p>
          <a:p>
            <a:pPr algn="l" marL="183642" indent="-183642">
              <a:lnSpc>
                <a:spcPts val="2400"/>
              </a:lnSpc>
              <a:buSzPct val="100000"/>
              <a:buChar char="•"/>
            </a:pPr>
            <a:r>
              <a:rPr lang="en-US" sz="1600" dirty="0">
                <a:solidFill>
                  <a:srgbClr val="3E4C5A"/>
                </a:solidFill>
                <a:latin typeface="Public Sans" pitchFamily="34" charset="0"/>
                <a:ea typeface="Public Sans" pitchFamily="34" charset="-122"/>
                <a:cs typeface="Public Sans" pitchFamily="34" charset="-120"/>
              </a:rPr>
              <a:t>What early renewal cost Medicare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209182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A"/>
                </a:solidFill>
                <a:latin typeface="Public Sans" pitchFamily="34" charset="0"/>
                <a:ea typeface="Public Sans" pitchFamily="34" charset="-122"/>
                <a:cs typeface="Public Sans" pitchFamily="34" charset="-120"/>
              </a:rPr>
              <a:t>SO WHY DID THEY RESET EARLY?</a:t>
            </a:r>
            <a:endParaRPr lang="en-US" sz="1200" dirty="0"/>
          </a:p>
        </p:txBody>
      </p:sp>
      <p:sp>
        <p:nvSpPr>
          <p:cNvPr id="3" name="Text 1"/>
          <p:cNvSpPr/>
          <p:nvPr>
            <p:ph type="title"/>
          </p:nvPr>
        </p:nvSpPr>
        <p:spPr>
          <a:xfrm>
            <a:off x="812800" y="2609949"/>
            <a:ext cx="10883392" cy="1122561"/>
          </a:xfrm>
          <a:prstGeom prst="rect">
            <a:avLst/>
          </a:prstGeom>
          <a:noFill/>
          <a:ln/>
        </p:spPr>
        <p:txBody>
          <a:bodyPr wrap="square" lIns="0" tIns="0" rIns="0" bIns="0" rtlCol="0" anchor="t">
            <a:normAutofit/>
          </a:bodyPr>
          <a:lstStyle/>
          <a:p>
            <a:pPr algn="l" indent="0" marL="0">
              <a:lnSpc>
                <a:spcPts val="4320"/>
              </a:lnSpc>
              <a:buNone/>
            </a:pPr>
            <a:r>
              <a:rPr lang="en-US" sz="3600" b="1" i="0" dirty="0">
                <a:solidFill>
                  <a:srgbClr val="F7F4EE"/>
                </a:solidFill>
                <a:latin typeface="Domine" pitchFamily="18" charset="0"/>
                <a:ea typeface="Domine" pitchFamily="18" charset="-122"/>
                <a:cs typeface="Domine" pitchFamily="18" charset="-120"/>
              </a:rPr>
              <a:t>Best reading: they were after the bigger share, not a bigger target.</a:t>
            </a:r>
            <a:endParaRPr lang="en-US" sz="3600" dirty="0"/>
          </a:p>
        </p:txBody>
      </p:sp>
      <p:sp>
        <p:nvSpPr>
          <p:cNvPr id="4" name="Text 2"/>
          <p:cNvSpPr/>
          <p:nvPr/>
        </p:nvSpPr>
        <p:spPr>
          <a:xfrm>
            <a:off x="812800" y="4011910"/>
            <a:ext cx="10883392"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3DC"/>
                </a:solidFill>
                <a:latin typeface="Public Sans" pitchFamily="34" charset="0"/>
                <a:ea typeface="Public Sans" pitchFamily="34" charset="-122"/>
                <a:cs typeface="Public Sans" pitchFamily="34" charset="-120"/>
              </a:rPr>
              <a:t>An interpretation, not a tested result. It fits a trade built into the 2022 rules: moving up to the 75% track mid-contract required a reset.</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LIMITS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The fine print</a:t>
            </a:r>
            <a:endParaRPr lang="en-US" sz="3600" dirty="0"/>
          </a:p>
        </p:txBody>
      </p:sp>
      <p:sp>
        <p:nvSpPr>
          <p:cNvPr id="4" name="Shape 2"/>
          <p:cNvSpPr/>
          <p:nvPr/>
        </p:nvSpPr>
        <p:spPr>
          <a:xfrm>
            <a:off x="815975" y="1989336"/>
            <a:ext cx="3414117" cy="1301651"/>
          </a:xfrm>
          <a:prstGeom prst="roundRect">
            <a:avLst>
              <a:gd name="adj" fmla="val 7562"/>
            </a:avLst>
          </a:prstGeom>
          <a:solidFill>
            <a:srgbClr val="FFFDF9"/>
          </a:solidFill>
          <a:ln w="6350">
            <a:solidFill>
              <a:srgbClr val="E2DDD3"/>
            </a:solidFill>
            <a:prstDash val="solid"/>
          </a:ln>
        </p:spPr>
      </p:sp>
      <p:sp>
        <p:nvSpPr>
          <p:cNvPr id="5" name="Text 3"/>
          <p:cNvSpPr/>
          <p:nvPr/>
        </p:nvSpPr>
        <p:spPr>
          <a:xfrm>
            <a:off x="1022350" y="219571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01A"/>
                </a:solidFill>
                <a:latin typeface="Domine" pitchFamily="18" charset="0"/>
                <a:ea typeface="Domine" pitchFamily="18" charset="-122"/>
                <a:cs typeface="Domine" pitchFamily="18" charset="-120"/>
              </a:rPr>
              <a:t>2022 rules only</a:t>
            </a:r>
            <a:endParaRPr lang="en-US" sz="1600" dirty="0"/>
          </a:p>
        </p:txBody>
      </p:sp>
      <p:sp>
        <p:nvSpPr>
          <p:cNvPr id="6" name="Text 4"/>
          <p:cNvSpPr/>
          <p:nvPr/>
        </p:nvSpPr>
        <p:spPr>
          <a:xfrm>
            <a:off x="1022350" y="2515691"/>
            <a:ext cx="30914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Rules for 2024 and later soften the hit for past savings.</a:t>
            </a:r>
            <a:endParaRPr lang="en-US" sz="1600" dirty="0"/>
          </a:p>
        </p:txBody>
      </p:sp>
      <p:sp>
        <p:nvSpPr>
          <p:cNvPr id="7" name="Shape 5"/>
          <p:cNvSpPr/>
          <p:nvPr/>
        </p:nvSpPr>
        <p:spPr>
          <a:xfrm>
            <a:off x="4388842" y="1989336"/>
            <a:ext cx="3414216" cy="1301651"/>
          </a:xfrm>
          <a:prstGeom prst="roundRect">
            <a:avLst>
              <a:gd name="adj" fmla="val 7562"/>
            </a:avLst>
          </a:prstGeom>
          <a:solidFill>
            <a:srgbClr val="FFFDF9"/>
          </a:solidFill>
          <a:ln w="6350">
            <a:solidFill>
              <a:srgbClr val="E2DDD3"/>
            </a:solidFill>
            <a:prstDash val="solid"/>
          </a:ln>
        </p:spPr>
      </p:sp>
      <p:sp>
        <p:nvSpPr>
          <p:cNvPr id="8" name="Text 6"/>
          <p:cNvSpPr/>
          <p:nvPr/>
        </p:nvSpPr>
        <p:spPr>
          <a:xfrm>
            <a:off x="4595217" y="21957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Small numbers</a:t>
            </a:r>
            <a:endParaRPr lang="en-US" sz="1600" dirty="0"/>
          </a:p>
        </p:txBody>
      </p:sp>
      <p:sp>
        <p:nvSpPr>
          <p:cNvPr id="9" name="Text 7"/>
          <p:cNvSpPr/>
          <p:nvPr/>
        </p:nvSpPr>
        <p:spPr>
          <a:xfrm>
            <a:off x="4595217" y="2515691"/>
            <a:ext cx="30915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29 early renewers; 24 in the model of who chose.</a:t>
            </a:r>
            <a:endParaRPr lang="en-US" sz="1600" dirty="0"/>
          </a:p>
        </p:txBody>
      </p:sp>
      <p:sp>
        <p:nvSpPr>
          <p:cNvPr id="10" name="Shape 8"/>
          <p:cNvSpPr/>
          <p:nvPr/>
        </p:nvSpPr>
        <p:spPr>
          <a:xfrm>
            <a:off x="7961809" y="1989336"/>
            <a:ext cx="3414216" cy="1301651"/>
          </a:xfrm>
          <a:prstGeom prst="roundRect">
            <a:avLst>
              <a:gd name="adj" fmla="val 7562"/>
            </a:avLst>
          </a:prstGeom>
          <a:solidFill>
            <a:srgbClr val="FFFDF9"/>
          </a:solidFill>
          <a:ln w="6350">
            <a:solidFill>
              <a:srgbClr val="E2DDD3"/>
            </a:solidFill>
            <a:prstDash val="solid"/>
          </a:ln>
        </p:spPr>
      </p:sp>
      <p:sp>
        <p:nvSpPr>
          <p:cNvPr id="11" name="Text 9"/>
          <p:cNvSpPr/>
          <p:nvPr/>
        </p:nvSpPr>
        <p:spPr>
          <a:xfrm>
            <a:off x="8168184" y="21957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Rebuilt targets</a:t>
            </a:r>
            <a:endParaRPr lang="en-US" sz="1600" dirty="0"/>
          </a:p>
        </p:txBody>
      </p:sp>
      <p:sp>
        <p:nvSpPr>
          <p:cNvPr id="12" name="Text 10"/>
          <p:cNvSpPr/>
          <p:nvPr/>
        </p:nvSpPr>
        <p:spPr>
          <a:xfrm>
            <a:off x="8168184" y="2515691"/>
            <a:ext cx="30915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Good for group averages, rough for any one group.</a:t>
            </a:r>
            <a:endParaRPr lang="en-US" sz="1600" dirty="0"/>
          </a:p>
        </p:txBody>
      </p:sp>
      <p:sp>
        <p:nvSpPr>
          <p:cNvPr id="13" name="Shape 11"/>
          <p:cNvSpPr/>
          <p:nvPr/>
        </p:nvSpPr>
        <p:spPr>
          <a:xfrm>
            <a:off x="815975" y="3449737"/>
            <a:ext cx="3414117" cy="1586111"/>
          </a:xfrm>
          <a:prstGeom prst="roundRect">
            <a:avLst>
              <a:gd name="adj" fmla="val 6205"/>
            </a:avLst>
          </a:prstGeom>
          <a:solidFill>
            <a:srgbClr val="FFFDF9"/>
          </a:solidFill>
          <a:ln w="6350">
            <a:solidFill>
              <a:srgbClr val="E2DDD3"/>
            </a:solidFill>
            <a:prstDash val="solid"/>
          </a:ln>
        </p:spPr>
      </p:sp>
      <p:sp>
        <p:nvSpPr>
          <p:cNvPr id="14" name="Text 12"/>
          <p:cNvSpPr/>
          <p:nvPr/>
        </p:nvSpPr>
        <p:spPr>
          <a:xfrm>
            <a:off x="1022350" y="3656112"/>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Smaller groups missing</a:t>
            </a:r>
            <a:endParaRPr lang="en-US" sz="1600" dirty="0"/>
          </a:p>
        </p:txBody>
      </p:sp>
      <p:sp>
        <p:nvSpPr>
          <p:cNvPr id="15" name="Text 13"/>
          <p:cNvSpPr/>
          <p:nvPr/>
        </p:nvSpPr>
        <p:spPr>
          <a:xfrm>
            <a:off x="1022350" y="3976092"/>
            <a:ext cx="30914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39 couldn't be measured: Medicare hides tiny counts for privacy.</a:t>
            </a:r>
            <a:endParaRPr lang="en-US" sz="1600" dirty="0"/>
          </a:p>
        </p:txBody>
      </p:sp>
      <p:sp>
        <p:nvSpPr>
          <p:cNvPr id="16" name="Shape 14"/>
          <p:cNvSpPr/>
          <p:nvPr/>
        </p:nvSpPr>
        <p:spPr>
          <a:xfrm>
            <a:off x="4388842" y="3449737"/>
            <a:ext cx="3414216" cy="1586111"/>
          </a:xfrm>
          <a:prstGeom prst="roundRect">
            <a:avLst>
              <a:gd name="adj" fmla="val 6205"/>
            </a:avLst>
          </a:prstGeom>
          <a:solidFill>
            <a:srgbClr val="FFFDF9"/>
          </a:solidFill>
          <a:ln w="6350">
            <a:solidFill>
              <a:srgbClr val="E2DDD3"/>
            </a:solidFill>
            <a:prstDash val="solid"/>
          </a:ln>
        </p:spPr>
      </p:sp>
      <p:sp>
        <p:nvSpPr>
          <p:cNvPr id="17" name="Text 15"/>
          <p:cNvSpPr/>
          <p:nvPr/>
        </p:nvSpPr>
        <p:spPr>
          <a:xfrm>
            <a:off x="4595217" y="365611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One COVID-era baseline</a:t>
            </a:r>
            <a:endParaRPr lang="en-US" sz="1600" dirty="0"/>
          </a:p>
        </p:txBody>
      </p:sp>
      <p:sp>
        <p:nvSpPr>
          <p:cNvPr id="18" name="Text 16"/>
          <p:cNvSpPr/>
          <p:nvPr/>
        </p:nvSpPr>
        <p:spPr>
          <a:xfrm>
            <a:off x="4595217" y="3976092"/>
            <a:ext cx="30915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Only one before-period to compare spending trends.</a:t>
            </a:r>
            <a:endParaRPr lang="en-US" sz="1600" dirty="0"/>
          </a:p>
        </p:txBody>
      </p:sp>
      <p:sp>
        <p:nvSpPr>
          <p:cNvPr id="19" name="Shape 17"/>
          <p:cNvSpPr/>
          <p:nvPr/>
        </p:nvSpPr>
        <p:spPr>
          <a:xfrm>
            <a:off x="7961809" y="3449737"/>
            <a:ext cx="3414216" cy="1586111"/>
          </a:xfrm>
          <a:prstGeom prst="roundRect">
            <a:avLst>
              <a:gd name="adj" fmla="val 6205"/>
            </a:avLst>
          </a:prstGeom>
          <a:solidFill>
            <a:srgbClr val="FFFDF9"/>
          </a:solidFill>
          <a:ln w="6350">
            <a:solidFill>
              <a:srgbClr val="E2DDD3"/>
            </a:solidFill>
            <a:prstDash val="solid"/>
          </a:ln>
        </p:spPr>
      </p:sp>
      <p:sp>
        <p:nvSpPr>
          <p:cNvPr id="20" name="Text 18"/>
          <p:cNvSpPr/>
          <p:nvPr/>
        </p:nvSpPr>
        <p:spPr>
          <a:xfrm>
            <a:off x="8168184" y="365611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Domine" pitchFamily="18" charset="0"/>
                <a:ea typeface="Domine" pitchFamily="18" charset="-122"/>
                <a:cs typeface="Domine" pitchFamily="18" charset="-120"/>
              </a:rPr>
              <a:t>Not fully independent</a:t>
            </a:r>
            <a:endParaRPr lang="en-US" sz="1600" dirty="0"/>
          </a:p>
        </p:txBody>
      </p:sp>
      <p:sp>
        <p:nvSpPr>
          <p:cNvPr id="21" name="Text 19"/>
          <p:cNvSpPr/>
          <p:nvPr/>
        </p:nvSpPr>
        <p:spPr>
          <a:xfrm>
            <a:off x="8168184" y="3976092"/>
            <a:ext cx="30915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Some groups share owners or local markets.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Public Sans" pitchFamily="34" charset="0"/>
                <a:ea typeface="Public Sans" pitchFamily="34" charset="-122"/>
                <a:cs typeface="Public Sans" pitchFamily="34" charset="-120"/>
              </a:rPr>
              <a:t>DISCLOSURE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A"/>
                </a:solidFill>
                <a:latin typeface="Domine" pitchFamily="18" charset="0"/>
                <a:ea typeface="Domine" pitchFamily="18" charset="-122"/>
                <a:cs typeface="Domine" pitchFamily="18" charset="-120"/>
              </a:rPr>
              <a:t>How AI was used in this study</a:t>
            </a:r>
            <a:endParaRPr lang="en-US" sz="3600" dirty="0"/>
          </a:p>
        </p:txBody>
      </p:sp>
      <p:sp>
        <p:nvSpPr>
          <p:cNvPr id="4" name="Shape 2"/>
          <p:cNvSpPr/>
          <p:nvPr/>
        </p:nvSpPr>
        <p:spPr>
          <a:xfrm>
            <a:off x="815975" y="1989336"/>
            <a:ext cx="5175250" cy="2216051"/>
          </a:xfrm>
          <a:prstGeom prst="roundRect">
            <a:avLst>
              <a:gd name="adj" fmla="val 4441"/>
            </a:avLst>
          </a:prstGeom>
          <a:solidFill>
            <a:srgbClr val="FFFDF9"/>
          </a:solidFill>
          <a:ln w="6350">
            <a:solidFill>
              <a:srgbClr val="E2DDD3"/>
            </a:solidFill>
            <a:prstDash val="solid"/>
          </a:ln>
        </p:spPr>
      </p:sp>
      <p:sp>
        <p:nvSpPr>
          <p:cNvPr id="5" name="Text 3"/>
          <p:cNvSpPr/>
          <p:nvPr/>
        </p:nvSpPr>
        <p:spPr>
          <a:xfrm>
            <a:off x="1123950" y="22973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B6595"/>
                </a:solidFill>
                <a:latin typeface="Domine" pitchFamily="18" charset="0"/>
                <a:ea typeface="Domine" pitchFamily="18" charset="-122"/>
                <a:cs typeface="Domine" pitchFamily="18" charset="-120"/>
              </a:rPr>
              <a:t>The AI tool</a:t>
            </a:r>
            <a:endParaRPr lang="en-US" sz="2200" dirty="0"/>
          </a:p>
        </p:txBody>
      </p:sp>
      <p:sp>
        <p:nvSpPr>
          <p:cNvPr id="6" name="Text 4"/>
          <p:cNvSpPr/>
          <p:nvPr/>
        </p:nvSpPr>
        <p:spPr>
          <a:xfrm>
            <a:off x="1123950" y="2759571"/>
            <a:ext cx="469607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Claude Code, from Anthropic, proposed the topic and drafted the analysis plan, the code, and most of the written post. Separate instances reviewed the plan, code, and manuscript.</a:t>
            </a:r>
            <a:endParaRPr lang="en-US" sz="1600" dirty="0"/>
          </a:p>
        </p:txBody>
      </p:sp>
      <p:sp>
        <p:nvSpPr>
          <p:cNvPr id="7" name="Shape 5"/>
          <p:cNvSpPr/>
          <p:nvPr/>
        </p:nvSpPr>
        <p:spPr>
          <a:xfrm>
            <a:off x="6200775" y="1989336"/>
            <a:ext cx="5175250" cy="2216051"/>
          </a:xfrm>
          <a:prstGeom prst="roundRect">
            <a:avLst>
              <a:gd name="adj" fmla="val 4441"/>
            </a:avLst>
          </a:prstGeom>
          <a:solidFill>
            <a:srgbClr val="FFFDF9"/>
          </a:solidFill>
          <a:ln w="6350">
            <a:solidFill>
              <a:srgbClr val="E2DDD3"/>
            </a:solidFill>
            <a:prstDash val="solid"/>
          </a:ln>
        </p:spPr>
      </p:sp>
      <p:sp>
        <p:nvSpPr>
          <p:cNvPr id="8" name="Text 6"/>
          <p:cNvSpPr/>
          <p:nvPr/>
        </p:nvSpPr>
        <p:spPr>
          <a:xfrm>
            <a:off x="6508750" y="22973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4501A"/>
                </a:solidFill>
                <a:latin typeface="Domine" pitchFamily="18" charset="0"/>
                <a:ea typeface="Domine" pitchFamily="18" charset="-122"/>
                <a:cs typeface="Domine" pitchFamily="18" charset="-120"/>
              </a:rPr>
              <a:t>Me</a:t>
            </a:r>
            <a:endParaRPr lang="en-US" sz="2200" dirty="0"/>
          </a:p>
        </p:txBody>
      </p:sp>
      <p:sp>
        <p:nvSpPr>
          <p:cNvPr id="9" name="Text 7"/>
          <p:cNvSpPr/>
          <p:nvPr/>
        </p:nvSpPr>
        <p:spPr>
          <a:xfrm>
            <a:off x="6508750" y="2759571"/>
            <a:ext cx="469607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A"/>
                </a:solidFill>
                <a:latin typeface="Public Sans" pitchFamily="34" charset="0"/>
                <a:ea typeface="Public Sans" pitchFamily="34" charset="-122"/>
                <a:cs typeface="Public Sans" pitchFamily="34" charset="-120"/>
              </a:rPr>
              <a:t>I chose among the options, revised and registered the plan, ran the analysis, and revised the text. I'm responsible for the results.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A"/>
                </a:solidFill>
                <a:latin typeface="Public Sans" pitchFamily="34" charset="0"/>
                <a:ea typeface="Public Sans" pitchFamily="34" charset="-122"/>
                <a:cs typeface="Public Sans" pitchFamily="34" charset="-120"/>
              </a:rPr>
              <a:t>WRAP-UP</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4EE"/>
                </a:solidFill>
                <a:latin typeface="Domine" pitchFamily="18" charset="0"/>
                <a:ea typeface="Domine" pitchFamily="18" charset="-122"/>
                <a:cs typeface="Domine" pitchFamily="18" charset="-120"/>
              </a:rPr>
              <a:t>Three things to remember</a:t>
            </a:r>
            <a:endParaRPr lang="en-US" sz="3600" dirty="0"/>
          </a:p>
        </p:txBody>
      </p:sp>
      <p:sp>
        <p:nvSpPr>
          <p:cNvPr id="4" name="Shape 2"/>
          <p:cNvSpPr/>
          <p:nvPr/>
        </p:nvSpPr>
        <p:spPr>
          <a:xfrm>
            <a:off x="812800" y="1986161"/>
            <a:ext cx="3386634" cy="2331641"/>
          </a:xfrm>
          <a:prstGeom prst="roundRect">
            <a:avLst>
              <a:gd name="adj" fmla="val 4357"/>
            </a:avLst>
          </a:prstGeom>
          <a:solidFill>
            <a:srgbClr val="24384C"/>
          </a:solidFill>
          <a:ln/>
        </p:spPr>
      </p:sp>
      <p:sp>
        <p:nvSpPr>
          <p:cNvPr id="5" name="Text 3"/>
          <p:cNvSpPr/>
          <p:nvPr/>
        </p:nvSpPr>
        <p:spPr>
          <a:xfrm>
            <a:off x="1117600" y="2290961"/>
            <a:ext cx="286034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A06A"/>
                </a:solidFill>
                <a:latin typeface="Domine" pitchFamily="18" charset="0"/>
                <a:ea typeface="Domine" pitchFamily="18" charset="-122"/>
                <a:cs typeface="Domine" pitchFamily="18" charset="-120"/>
              </a:rPr>
              <a:t>1</a:t>
            </a:r>
            <a:endParaRPr lang="en-US" sz="3600" dirty="0"/>
          </a:p>
        </p:txBody>
      </p:sp>
      <p:sp>
        <p:nvSpPr>
          <p:cNvPr id="6" name="Text 4"/>
          <p:cNvSpPr/>
          <p:nvPr/>
        </p:nvSpPr>
        <p:spPr>
          <a:xfrm>
            <a:off x="1117600" y="2875161"/>
            <a:ext cx="286034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E"/>
                </a:solidFill>
                <a:latin typeface="Public Sans" pitchFamily="34" charset="0"/>
                <a:ea typeface="Public Sans" pitchFamily="34" charset="-122"/>
                <a:cs typeface="Public Sans" pitchFamily="34" charset="-120"/>
              </a:rPr>
              <a:t>Groups that reset early were low-cost compared with their areas, and already saving more.</a:t>
            </a:r>
            <a:endParaRPr lang="en-US" sz="1600" dirty="0"/>
          </a:p>
        </p:txBody>
      </p:sp>
      <p:sp>
        <p:nvSpPr>
          <p:cNvPr id="7" name="Shape 5"/>
          <p:cNvSpPr/>
          <p:nvPr/>
        </p:nvSpPr>
        <p:spPr>
          <a:xfrm>
            <a:off x="4402634" y="1986161"/>
            <a:ext cx="3386733" cy="2331641"/>
          </a:xfrm>
          <a:prstGeom prst="roundRect">
            <a:avLst>
              <a:gd name="adj" fmla="val 4357"/>
            </a:avLst>
          </a:prstGeom>
          <a:solidFill>
            <a:srgbClr val="24384C"/>
          </a:solidFill>
          <a:ln/>
        </p:spPr>
      </p:sp>
      <p:sp>
        <p:nvSpPr>
          <p:cNvPr id="8" name="Text 6"/>
          <p:cNvSpPr/>
          <p:nvPr/>
        </p:nvSpPr>
        <p:spPr>
          <a:xfrm>
            <a:off x="4707434" y="2290961"/>
            <a:ext cx="286044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A06A"/>
                </a:solidFill>
                <a:latin typeface="Domine" pitchFamily="18" charset="0"/>
                <a:ea typeface="Domine" pitchFamily="18" charset="-122"/>
                <a:cs typeface="Domine" pitchFamily="18" charset="-120"/>
              </a:rPr>
              <a:t>2</a:t>
            </a:r>
            <a:endParaRPr lang="en-US" sz="3600" dirty="0"/>
          </a:p>
        </p:txBody>
      </p:sp>
      <p:sp>
        <p:nvSpPr>
          <p:cNvPr id="9" name="Text 7"/>
          <p:cNvSpPr/>
          <p:nvPr/>
        </p:nvSpPr>
        <p:spPr>
          <a:xfrm>
            <a:off x="4707434" y="2875161"/>
            <a:ext cx="286044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E"/>
                </a:solidFill>
                <a:latin typeface="Public Sans" pitchFamily="34" charset="0"/>
                <a:ea typeface="Public Sans" pitchFamily="34" charset="-122"/>
                <a:cs typeface="Public Sans" pitchFamily="34" charset="-120"/>
              </a:rPr>
              <a:t>A reset didn't raise their targets on average. The 75% share is the likelier draw.</a:t>
            </a:r>
            <a:endParaRPr lang="en-US" sz="1600" dirty="0"/>
          </a:p>
        </p:txBody>
      </p:sp>
      <p:sp>
        <p:nvSpPr>
          <p:cNvPr id="10" name="Shape 8"/>
          <p:cNvSpPr/>
          <p:nvPr/>
        </p:nvSpPr>
        <p:spPr>
          <a:xfrm>
            <a:off x="7992566" y="1986161"/>
            <a:ext cx="3386634" cy="2331641"/>
          </a:xfrm>
          <a:prstGeom prst="roundRect">
            <a:avLst>
              <a:gd name="adj" fmla="val 4357"/>
            </a:avLst>
          </a:prstGeom>
          <a:solidFill>
            <a:srgbClr val="24384C"/>
          </a:solidFill>
          <a:ln/>
        </p:spPr>
      </p:sp>
      <p:sp>
        <p:nvSpPr>
          <p:cNvPr id="11" name="Text 9"/>
          <p:cNvSpPr/>
          <p:nvPr/>
        </p:nvSpPr>
        <p:spPr>
          <a:xfrm>
            <a:off x="8297366" y="2290961"/>
            <a:ext cx="286034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A06A"/>
                </a:solidFill>
                <a:latin typeface="Domine" pitchFamily="18" charset="0"/>
                <a:ea typeface="Domine" pitchFamily="18" charset="-122"/>
                <a:cs typeface="Domine" pitchFamily="18" charset="-120"/>
              </a:rPr>
              <a:t>3</a:t>
            </a:r>
            <a:endParaRPr lang="en-US" sz="3600" dirty="0"/>
          </a:p>
        </p:txBody>
      </p:sp>
      <p:sp>
        <p:nvSpPr>
          <p:cNvPr id="12" name="Text 10"/>
          <p:cNvSpPr/>
          <p:nvPr/>
        </p:nvSpPr>
        <p:spPr>
          <a:xfrm>
            <a:off x="8297366" y="2875161"/>
            <a:ext cx="286034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E"/>
                </a:solidFill>
                <a:latin typeface="Public Sans" pitchFamily="34" charset="0"/>
                <a:ea typeface="Public Sans" pitchFamily="34" charset="-122"/>
                <a:cs typeface="Public Sans" pitchFamily="34" charset="-120"/>
              </a:rPr>
              <a:t>Writing the rules first lets you trust a result, even a messy one.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1390749"/>
            <a:ext cx="510159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B2A3A"/>
                </a:solidFill>
                <a:latin typeface="Domine" pitchFamily="18" charset="0"/>
                <a:ea typeface="Domine" pitchFamily="18" charset="-122"/>
                <a:cs typeface="Domine" pitchFamily="18" charset="-120"/>
              </a:rPr>
              <a:t>Thanks for watching</a:t>
            </a:r>
            <a:endParaRPr lang="en-US" sz="4800" dirty="0"/>
          </a:p>
        </p:txBody>
      </p:sp>
      <p:sp>
        <p:nvSpPr>
          <p:cNvPr id="3" name="Text 1"/>
          <p:cNvSpPr/>
          <p:nvPr/>
        </p:nvSpPr>
        <p:spPr>
          <a:xfrm>
            <a:off x="812800" y="3036590"/>
            <a:ext cx="5101590"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4501A"/>
                </a:solidFill>
                <a:latin typeface="Public Sans" pitchFamily="34" charset="0"/>
                <a:ea typeface="Public Sans" pitchFamily="34" charset="-122"/>
                <a:cs typeface="Public Sans" pitchFamily="34" charset="-120"/>
              </a:rPr>
              <a:t>Had a target ratchet up on you? Tell me in the comments.</a:t>
            </a:r>
            <a:endParaRPr lang="en-US" sz="2200" dirty="0"/>
          </a:p>
        </p:txBody>
      </p:sp>
      <p:sp>
        <p:nvSpPr>
          <p:cNvPr id="4" name="Text 2"/>
          <p:cNvSpPr/>
          <p:nvPr/>
        </p:nvSpPr>
        <p:spPr>
          <a:xfrm>
            <a:off x="812800" y="409565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873"/>
                </a:solidFill>
                <a:latin typeface="Public Sans" pitchFamily="34" charset="0"/>
                <a:ea typeface="Public Sans" pitchFamily="34" charset="-122"/>
                <a:cs typeface="Public Sans" pitchFamily="34" charset="-120"/>
              </a:rPr>
              <a:t>LINKS IN THE DESCRIPTION</a:t>
            </a:r>
            <a:endParaRPr lang="en-US" sz="1200" dirty="0"/>
          </a:p>
        </p:txBody>
      </p:sp>
      <p:sp>
        <p:nvSpPr>
          <p:cNvPr id="5" name="Text 3"/>
          <p:cNvSpPr/>
          <p:nvPr/>
        </p:nvSpPr>
        <p:spPr>
          <a:xfrm>
            <a:off x="812800" y="4410571"/>
            <a:ext cx="51015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Write-up:</a:t>
            </a:r>
            <a:r>
              <a:rPr lang="en-US" sz="1600" dirty="0">
                <a:solidFill>
                  <a:srgbClr val="3E4C5A"/>
                </a:solidFill>
                <a:latin typeface="Public Sans" pitchFamily="34" charset="0"/>
                <a:ea typeface="Public Sans" pitchFamily="34" charset="-122"/>
                <a:cs typeface="Public Sans" pitchFamily="34" charset="-120"/>
              </a:rPr>
              <a:t> </a:t>
            </a:r>
            <a:r>
              <a:rPr lang="en-US" sz="1600" u="sng" dirty="0">
                <a:solidFill>
                  <a:srgbClr val="3E4C5A"/>
                </a:solidFill>
                <a:latin typeface="Public Sans" pitchFamily="34" charset="0"/>
                <a:ea typeface="Public Sans" pitchFamily="34" charset="-122"/>
                <a:cs typeface="Public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stharrold.github.io</a:t>
            </a:r>
            <a:endParaRPr lang="en-US" sz="1600" dirty="0"/>
          </a:p>
        </p:txBody>
      </p:sp>
      <p:sp>
        <p:nvSpPr>
          <p:cNvPr id="6" name="Text 4"/>
          <p:cNvSpPr/>
          <p:nvPr/>
        </p:nvSpPr>
        <p:spPr>
          <a:xfrm>
            <a:off x="812800" y="4796631"/>
            <a:ext cx="51015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Registered plan:</a:t>
            </a:r>
            <a:r>
              <a:rPr lang="en-US" sz="1600" dirty="0">
                <a:solidFill>
                  <a:srgbClr val="3E4C5A"/>
                </a:solidFill>
                <a:latin typeface="Public Sans" pitchFamily="34" charset="0"/>
                <a:ea typeface="Public Sans" pitchFamily="34" charset="-122"/>
                <a:cs typeface="Public Sans" pitchFamily="34" charset="-120"/>
              </a:rPr>
              <a:t> </a:t>
            </a:r>
            <a:r>
              <a:rPr lang="en-US" sz="1600" u="sng" dirty="0">
                <a:solidFill>
                  <a:srgbClr val="3E4C5A"/>
                </a:solidFill>
                <a:latin typeface="Public Sans" pitchFamily="34" charset="0"/>
                <a:ea typeface="Public Sans" pitchFamily="34" charset="-122"/>
                <a:cs typeface="Public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osf.io/c53w9</a:t>
            </a:r>
            <a:endParaRPr lang="en-US" sz="1600" dirty="0"/>
          </a:p>
        </p:txBody>
      </p:sp>
      <p:sp>
        <p:nvSpPr>
          <p:cNvPr id="7" name="Text 5"/>
          <p:cNvSpPr/>
          <p:nvPr/>
        </p:nvSpPr>
        <p:spPr>
          <a:xfrm>
            <a:off x="812800" y="5182691"/>
            <a:ext cx="51015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C5A"/>
                </a:solidFill>
                <a:latin typeface="Public Sans" pitchFamily="34" charset="0"/>
                <a:ea typeface="Public Sans" pitchFamily="34" charset="-122"/>
                <a:cs typeface="Public Sans" pitchFamily="34" charset="-120"/>
              </a:rPr>
              <a:t>Code:</a:t>
            </a:r>
            <a:r>
              <a:rPr lang="en-US" sz="1600" dirty="0">
                <a:solidFill>
                  <a:srgbClr val="3E4C5A"/>
                </a:solidFill>
                <a:latin typeface="Public Sans" pitchFamily="34" charset="0"/>
                <a:ea typeface="Public Sans" pitchFamily="34" charset="-122"/>
                <a:cs typeface="Public Sans" pitchFamily="34" charset="-120"/>
              </a:rPr>
              <a:t> </a:t>
            </a:r>
            <a:r>
              <a:rPr lang="en-US" sz="1600" u="sng" dirty="0">
                <a:solidFill>
                  <a:srgbClr val="3E4C5A"/>
                </a:solidFill>
                <a:latin typeface="Public Sans" pitchFamily="34" charset="0"/>
                <a:ea typeface="Public Sans" pitchFamily="34" charset="-122"/>
                <a:cs typeface="Public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github.com/stharrold/mssp-paper-2026</a:t>
            </a:r>
            <a:endParaRPr lang="en-US" sz="1600" dirty="0"/>
          </a:p>
        </p:txBody>
      </p:sp>
    </p:spTree>
  </p:cSld>
  <p:clrMapOvr>
    <a:masterClrMapping/>
  </p:clrMapOvr>
</p:sld>
</file>

<file path=ppt/theme/theme1.xml><?xml version="1.0" encoding="utf-8"?>
<a:theme xmlns:a="http://schemas.openxmlformats.org/drawingml/2006/main" name="Resetting the Target Early">
  <a:themeElements>
    <a:clrScheme name="Resetting the Target Early">
      <a:dk1>
        <a:srgbClr val="1B2A3A"/>
      </a:dk1>
      <a:lt1>
        <a:srgbClr val="F7F4EE"/>
      </a:lt1>
      <a:dk2>
        <a:srgbClr val="525D67"/>
      </a:dk2>
      <a:lt2>
        <a:srgbClr val="E1E0DC"/>
      </a:lt2>
      <a:accent1>
        <a:srgbClr val="B4501A"/>
      </a:accent1>
      <a:accent2>
        <a:srgbClr val="2B6595"/>
      </a:accent2>
      <a:accent3>
        <a:srgbClr val="F0A06A"/>
      </a:accent3>
      <a:accent4>
        <a:srgbClr val="3E4C5A"/>
      </a:accent4>
      <a:accent5>
        <a:srgbClr val="5E6873"/>
      </a:accent5>
      <a:accent6>
        <a:srgbClr val="C9D3DC"/>
      </a:accent6>
      <a:hlink>
        <a:srgbClr val="0563C1"/>
      </a:hlink>
      <a:folHlink>
        <a:srgbClr val="954F72"/>
      </a:folHlink>
    </a:clrScheme>
    <a:fontScheme name="Resetting the Target Early">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Resetting the Target Early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2026-10-29T11:11:41Z</dcterms:created>
  <dcterms:modified xsi:type="dcterms:W3CDTF">2026-10-29T11:11:41Z</dcterms:modified>
</cp:coreProperties>
</file>